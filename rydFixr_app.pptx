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69" r:id="rId3"/>
    <p:sldId id="268" r:id="rId4"/>
    <p:sldId id="272" r:id="rId5"/>
    <p:sldId id="286" r:id="rId6"/>
    <p:sldId id="281" r:id="rId7"/>
    <p:sldId id="285" r:id="rId8"/>
    <p:sldId id="270" r:id="rId9"/>
    <p:sldId id="287" r:id="rId10"/>
    <p:sldId id="288" r:id="rId11"/>
    <p:sldId id="277" r:id="rId12"/>
    <p:sldId id="276" r:id="rId13"/>
    <p:sldId id="282" r:id="rId14"/>
    <p:sldId id="257" r:id="rId15"/>
    <p:sldId id="289" r:id="rId16"/>
    <p:sldId id="278" r:id="rId17"/>
    <p:sldId id="279" r:id="rId18"/>
    <p:sldId id="290" r:id="rId19"/>
    <p:sldId id="266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901925-AA03-4B4E-9B58-DF99B0427CA5}" v="3" dt="2025-09-11T04:14:29.881"/>
  </p1510:revLst>
</p1510:revInfo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708D2CE6-8257-8A20-7860-D1A8B4654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9EF2BD01-E314-F2B7-BFF1-67B27D971D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1D01D366-274B-EF10-C400-DFC4274C2F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30844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2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urudheeraj/rydFixr_app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roadside_assistance.pdf" TargetMode="External"/><Relationship Id="rId2" Type="http://schemas.openxmlformats.org/officeDocument/2006/relationships/hyperlink" Target="2979_compressed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VEHICLE-BREAKDOWN-ASSISTANCE-MANAGEMENT-SYSTEM.pdf" TargetMode="External"/><Relationship Id="rId4" Type="http://schemas.openxmlformats.org/officeDocument/2006/relationships/hyperlink" Target="https://www.ijraset.com/best-journal/on-road-vehicle-assistance-management-system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IJSRST52411274.pdf" TargetMode="External"/><Relationship Id="rId2" Type="http://schemas.openxmlformats.org/officeDocument/2006/relationships/hyperlink" Target="penerbit,+AITCS+Vol+1+No+1-210-231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On%20Road%20Vehicle%20Breakdown%20Assistance%20Search.pdf" TargetMode="External"/><Relationship Id="rId4" Type="http://schemas.openxmlformats.org/officeDocument/2006/relationships/hyperlink" Target="Mobile_Based_Solution_for_Vehicle_Assistance.pdf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Review_Paper_on_On_Road_Vehicle_Breakdow.pdf" TargetMode="External"/><Relationship Id="rId2" Type="http://schemas.openxmlformats.org/officeDocument/2006/relationships/hyperlink" Target="ON%20ROAD%20VEHICLE%20BREAKDOWN%20ASSISTANT%20MGMT.pdf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2">
            <a:extLst>
              <a:ext uri="{FF2B5EF4-FFF2-40B4-BE49-F238E27FC236}">
                <a16:creationId xmlns:a16="http://schemas.microsoft.com/office/drawing/2014/main" id="{A3F0F9A5-6E3B-3F2E-8C81-E8C7507BAF30}"/>
              </a:ext>
            </a:extLst>
          </p:cNvPr>
          <p:cNvSpPr txBox="1">
            <a:spLocks/>
          </p:cNvSpPr>
          <p:nvPr/>
        </p:nvSpPr>
        <p:spPr>
          <a:xfrm>
            <a:off x="925830" y="1155256"/>
            <a:ext cx="10043160" cy="39562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3335" rIns="0" bIns="0" rtlCol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spcBef>
                <a:spcPts val="105"/>
              </a:spcBef>
            </a:pPr>
            <a:r>
              <a:rPr lang="en-US" sz="2400" dirty="0" err="1"/>
              <a:t>rydFixr</a:t>
            </a:r>
            <a:endParaRPr lang="en-US" sz="2400" dirty="0"/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82EDE559-DB1D-DB9D-385F-F0A086AEF944}"/>
              </a:ext>
            </a:extLst>
          </p:cNvPr>
          <p:cNvSpPr txBox="1"/>
          <p:nvPr/>
        </p:nvSpPr>
        <p:spPr>
          <a:xfrm>
            <a:off x="228600" y="1854561"/>
            <a:ext cx="25565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7365D"/>
                </a:solidFill>
                <a:latin typeface="Cambria"/>
                <a:cs typeface="Cambria"/>
              </a:rPr>
              <a:t>Batch</a:t>
            </a:r>
            <a:r>
              <a:rPr sz="1800" b="1" spc="-8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7365D"/>
                </a:solidFill>
                <a:latin typeface="Cambria"/>
                <a:cs typeface="Cambria"/>
              </a:rPr>
              <a:t>Number</a:t>
            </a:r>
            <a:r>
              <a:rPr sz="1800" b="1" spc="2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7365D"/>
                </a:solidFill>
                <a:latin typeface="Cambria"/>
                <a:cs typeface="Cambria"/>
              </a:rPr>
              <a:t>:</a:t>
            </a:r>
            <a:r>
              <a:rPr sz="1800" b="1" spc="-1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17365D"/>
                </a:solidFill>
                <a:latin typeface="Cambria"/>
                <a:cs typeface="Cambria"/>
              </a:rPr>
              <a:t>CS</a:t>
            </a:r>
            <a:r>
              <a:rPr lang="en-US" sz="1800" b="1" spc="-10" dirty="0">
                <a:solidFill>
                  <a:srgbClr val="17365D"/>
                </a:solidFill>
                <a:latin typeface="Cambria"/>
                <a:cs typeface="Cambria"/>
              </a:rPr>
              <a:t>D</a:t>
            </a:r>
            <a:r>
              <a:rPr sz="1800" b="1" spc="-10" dirty="0">
                <a:solidFill>
                  <a:srgbClr val="17365D"/>
                </a:solidFill>
                <a:latin typeface="Cambria"/>
                <a:cs typeface="Cambria"/>
              </a:rPr>
              <a:t>_</a:t>
            </a:r>
            <a:r>
              <a:rPr lang="en-US" sz="1800" b="1" spc="-10" dirty="0">
                <a:solidFill>
                  <a:srgbClr val="17365D"/>
                </a:solidFill>
                <a:latin typeface="Cambria"/>
                <a:cs typeface="Cambria"/>
              </a:rPr>
              <a:t>26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14" name="object 4">
            <a:extLst>
              <a:ext uri="{FF2B5EF4-FFF2-40B4-BE49-F238E27FC236}">
                <a16:creationId xmlns:a16="http://schemas.microsoft.com/office/drawing/2014/main" id="{9FD3764C-0432-0073-8BDE-43A207975D4B}"/>
              </a:ext>
            </a:extLst>
          </p:cNvPr>
          <p:cNvSpPr txBox="1"/>
          <p:nvPr/>
        </p:nvSpPr>
        <p:spPr>
          <a:xfrm>
            <a:off x="228600" y="2554541"/>
            <a:ext cx="11560174" cy="34617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183005" algn="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7365D"/>
                </a:solidFill>
                <a:latin typeface="Cambria"/>
                <a:cs typeface="Cambria"/>
              </a:rPr>
              <a:t>Under</a:t>
            </a:r>
            <a:r>
              <a:rPr sz="1800" b="1" spc="-10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7365D"/>
                </a:solidFill>
                <a:latin typeface="Cambria"/>
                <a:cs typeface="Cambria"/>
              </a:rPr>
              <a:t>the</a:t>
            </a:r>
            <a:r>
              <a:rPr sz="1800" b="1" spc="-7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7365D"/>
                </a:solidFill>
                <a:latin typeface="Cambria"/>
                <a:cs typeface="Cambria"/>
              </a:rPr>
              <a:t>Supervision</a:t>
            </a:r>
            <a:r>
              <a:rPr sz="1800" b="1" spc="-4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spc="-25" dirty="0">
                <a:solidFill>
                  <a:srgbClr val="17365D"/>
                </a:solidFill>
                <a:latin typeface="Cambria"/>
                <a:cs typeface="Cambria"/>
              </a:rPr>
              <a:t>of,</a:t>
            </a:r>
            <a:endParaRPr sz="1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800" dirty="0">
              <a:latin typeface="Cambria"/>
              <a:cs typeface="Cambria"/>
            </a:endParaRPr>
          </a:p>
          <a:p>
            <a:pPr marR="1731645" algn="r">
              <a:lnSpc>
                <a:spcPct val="100000"/>
              </a:lnSpc>
            </a:pPr>
            <a:r>
              <a:rPr lang="en-US" sz="1800" b="1" dirty="0">
                <a:solidFill>
                  <a:srgbClr val="17365D"/>
                </a:solidFill>
                <a:latin typeface="Cambria"/>
                <a:cs typeface="Arial"/>
              </a:rPr>
              <a:t>Dr. </a:t>
            </a:r>
            <a:r>
              <a:rPr lang="en-US" sz="1800" b="1" dirty="0">
                <a:solidFill>
                  <a:srgbClr val="17365D"/>
                </a:solidFill>
                <a:latin typeface="Cambria"/>
              </a:rPr>
              <a:t>Wasim Yasin</a:t>
            </a:r>
            <a:endParaRPr sz="1800" dirty="0">
              <a:latin typeface="Arial"/>
              <a:cs typeface="Arial"/>
            </a:endParaRPr>
          </a:p>
          <a:p>
            <a:pPr marL="6503034">
              <a:lnSpc>
                <a:spcPct val="100000"/>
              </a:lnSpc>
              <a:spcBef>
                <a:spcPts val="190"/>
              </a:spcBef>
            </a:pP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Professor</a:t>
            </a:r>
            <a:r>
              <a:rPr sz="1700" b="1" spc="1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/</a:t>
            </a:r>
            <a:r>
              <a:rPr sz="1700" b="1" spc="-7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Associate</a:t>
            </a:r>
            <a:r>
              <a:rPr sz="1700" b="1" spc="-6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17365D"/>
                </a:solidFill>
                <a:latin typeface="Cambria"/>
                <a:cs typeface="Cambria"/>
              </a:rPr>
              <a:t>Professor</a:t>
            </a:r>
            <a:r>
              <a:rPr sz="1700" b="1" spc="-6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/ </a:t>
            </a:r>
            <a:r>
              <a:rPr sz="1700" b="1" spc="-10" dirty="0">
                <a:solidFill>
                  <a:srgbClr val="17365D"/>
                </a:solidFill>
                <a:latin typeface="Cambria"/>
                <a:cs typeface="Cambria"/>
              </a:rPr>
              <a:t>Assistant</a:t>
            </a:r>
            <a:r>
              <a:rPr sz="1700" b="1" spc="-3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17365D"/>
                </a:solidFill>
                <a:latin typeface="Cambria"/>
                <a:cs typeface="Cambria"/>
              </a:rPr>
              <a:t>Professor</a:t>
            </a:r>
            <a:endParaRPr sz="1700" dirty="0">
              <a:latin typeface="Cambria"/>
              <a:cs typeface="Cambria"/>
            </a:endParaRPr>
          </a:p>
          <a:p>
            <a:pPr marL="6503034" marR="831850">
              <a:lnSpc>
                <a:spcPct val="114100"/>
              </a:lnSpc>
              <a:spcBef>
                <a:spcPts val="5"/>
              </a:spcBef>
            </a:pP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School</a:t>
            </a:r>
            <a:r>
              <a:rPr sz="1700" b="1" spc="-9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of</a:t>
            </a:r>
            <a:r>
              <a:rPr sz="1700" b="1" spc="-3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Computer</a:t>
            </a:r>
            <a:r>
              <a:rPr sz="1700" b="1" spc="-3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17365D"/>
                </a:solidFill>
                <a:latin typeface="Cambria"/>
                <a:cs typeface="Cambria"/>
              </a:rPr>
              <a:t>Science</a:t>
            </a:r>
            <a:r>
              <a:rPr sz="1700" b="1" spc="-6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and</a:t>
            </a:r>
            <a:r>
              <a:rPr sz="1700" b="1" spc="-3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17365D"/>
                </a:solidFill>
                <a:latin typeface="Cambria"/>
                <a:cs typeface="Cambria"/>
              </a:rPr>
              <a:t>Engineering Presidency</a:t>
            </a:r>
            <a:r>
              <a:rPr sz="1700" b="1" spc="-1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17365D"/>
                </a:solidFill>
                <a:latin typeface="Cambria"/>
                <a:cs typeface="Cambria"/>
              </a:rPr>
              <a:t>University</a:t>
            </a:r>
            <a:endParaRPr sz="1700" dirty="0">
              <a:latin typeface="Cambria"/>
              <a:cs typeface="Cambria"/>
            </a:endParaRPr>
          </a:p>
          <a:p>
            <a:pPr marL="12700" marR="4808220" algn="l">
              <a:lnSpc>
                <a:spcPct val="100800"/>
              </a:lnSpc>
              <a:spcBef>
                <a:spcPts val="1520"/>
              </a:spcBef>
            </a:pPr>
            <a:r>
              <a:rPr sz="1800" b="1" dirty="0">
                <a:solidFill>
                  <a:srgbClr val="4F81BB"/>
                </a:solidFill>
                <a:latin typeface="Cambria"/>
                <a:cs typeface="Cambria"/>
              </a:rPr>
              <a:t>Name</a:t>
            </a:r>
            <a:r>
              <a:rPr sz="1800" b="1" spc="-40" dirty="0">
                <a:solidFill>
                  <a:srgbClr val="4F81BB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B"/>
                </a:solidFill>
                <a:latin typeface="Cambria"/>
                <a:cs typeface="Cambria"/>
              </a:rPr>
              <a:t>of</a:t>
            </a:r>
            <a:r>
              <a:rPr sz="1800" b="1" spc="-35" dirty="0">
                <a:solidFill>
                  <a:srgbClr val="4F81BB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B"/>
                </a:solidFill>
                <a:latin typeface="Cambria"/>
                <a:cs typeface="Cambria"/>
              </a:rPr>
              <a:t>the</a:t>
            </a:r>
            <a:r>
              <a:rPr sz="1800" b="1" spc="10" dirty="0">
                <a:solidFill>
                  <a:srgbClr val="4F81BB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B"/>
                </a:solidFill>
                <a:latin typeface="Cambria"/>
                <a:cs typeface="Cambria"/>
              </a:rPr>
              <a:t>Program:</a:t>
            </a:r>
            <a:r>
              <a:rPr sz="1800" b="1" spc="-25" dirty="0">
                <a:solidFill>
                  <a:srgbClr val="4F81BB"/>
                </a:solidFill>
                <a:latin typeface="Cambria"/>
                <a:cs typeface="Cambria"/>
              </a:rPr>
              <a:t> </a:t>
            </a:r>
            <a:r>
              <a:rPr sz="1800" b="1" spc="-20" dirty="0" err="1">
                <a:solidFill>
                  <a:schemeClr val="accent6"/>
                </a:solidFill>
                <a:latin typeface="Cambria"/>
                <a:cs typeface="Cambria"/>
              </a:rPr>
              <a:t>B.Tech</a:t>
            </a:r>
            <a:r>
              <a:rPr lang="en-US" sz="1800" b="1" spc="-20" dirty="0">
                <a:solidFill>
                  <a:schemeClr val="accent6"/>
                </a:solidFill>
                <a:latin typeface="Cambria"/>
                <a:cs typeface="Cambria"/>
              </a:rPr>
              <a:t> - CSE ( Data Science )                        </a:t>
            </a:r>
            <a:r>
              <a:rPr sz="1800" b="1" dirty="0">
                <a:solidFill>
                  <a:srgbClr val="4F81BB"/>
                </a:solidFill>
                <a:latin typeface="Cambria"/>
                <a:cs typeface="Cambria"/>
              </a:rPr>
              <a:t>Name</a:t>
            </a:r>
            <a:r>
              <a:rPr sz="1800" b="1" spc="-65" dirty="0">
                <a:solidFill>
                  <a:srgbClr val="4F81BB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B"/>
                </a:solidFill>
                <a:latin typeface="Cambria"/>
                <a:cs typeface="Cambria"/>
              </a:rPr>
              <a:t>of</a:t>
            </a:r>
            <a:r>
              <a:rPr sz="1800" b="1" spc="-55" dirty="0">
                <a:solidFill>
                  <a:srgbClr val="4F81BB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B"/>
                </a:solidFill>
                <a:latin typeface="Cambria"/>
                <a:cs typeface="Cambria"/>
              </a:rPr>
              <a:t>the</a:t>
            </a:r>
            <a:r>
              <a:rPr sz="1800" b="1" spc="-15" dirty="0">
                <a:solidFill>
                  <a:srgbClr val="4F81BB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B"/>
                </a:solidFill>
                <a:latin typeface="Cambria"/>
                <a:cs typeface="Cambria"/>
              </a:rPr>
              <a:t>HoD:</a:t>
            </a:r>
            <a:r>
              <a:rPr sz="1800" b="1" spc="-5" dirty="0">
                <a:solidFill>
                  <a:srgbClr val="4F81BB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chemeClr val="accent6"/>
                </a:solidFill>
                <a:latin typeface="Cambria"/>
                <a:cs typeface="Cambria"/>
              </a:rPr>
              <a:t>Dr.</a:t>
            </a:r>
            <a:r>
              <a:rPr lang="en-US" b="1" spc="-25" dirty="0">
                <a:solidFill>
                  <a:schemeClr val="accent6"/>
                </a:solidFill>
                <a:latin typeface="Cambria"/>
                <a:cs typeface="Cambria"/>
              </a:rPr>
              <a:t> </a:t>
            </a:r>
            <a:r>
              <a:rPr lang="en-US" sz="1800" b="1" spc="-25" dirty="0" err="1">
                <a:solidFill>
                  <a:schemeClr val="accent6"/>
                </a:solidFill>
                <a:latin typeface="Cambria"/>
                <a:cs typeface="Cambria"/>
              </a:rPr>
              <a:t>Pravinthraja</a:t>
            </a:r>
            <a:r>
              <a:rPr lang="en-US" sz="1800" b="1" spc="-25" dirty="0">
                <a:solidFill>
                  <a:schemeClr val="accent6"/>
                </a:solidFill>
                <a:latin typeface="Cambria"/>
                <a:cs typeface="Cambria"/>
              </a:rPr>
              <a:t> S</a:t>
            </a:r>
            <a:endParaRPr sz="1800" dirty="0">
              <a:solidFill>
                <a:schemeClr val="accent6"/>
              </a:solidFill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800" b="1" dirty="0">
                <a:solidFill>
                  <a:srgbClr val="4F81BB"/>
                </a:solidFill>
                <a:latin typeface="Cambria"/>
                <a:cs typeface="Cambria"/>
              </a:rPr>
              <a:t>Name</a:t>
            </a:r>
            <a:r>
              <a:rPr sz="1800" b="1" spc="-85" dirty="0">
                <a:solidFill>
                  <a:srgbClr val="4F81BB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B"/>
                </a:solidFill>
                <a:latin typeface="Cambria"/>
                <a:cs typeface="Cambria"/>
              </a:rPr>
              <a:t>of</a:t>
            </a:r>
            <a:r>
              <a:rPr sz="1800" b="1" spc="-75" dirty="0">
                <a:solidFill>
                  <a:srgbClr val="4F81BB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B"/>
                </a:solidFill>
                <a:latin typeface="Cambria"/>
                <a:cs typeface="Cambria"/>
              </a:rPr>
              <a:t>the</a:t>
            </a:r>
            <a:r>
              <a:rPr sz="1800" b="1" spc="-40" dirty="0">
                <a:solidFill>
                  <a:srgbClr val="4F81BB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B"/>
                </a:solidFill>
                <a:latin typeface="Cambria"/>
                <a:cs typeface="Cambria"/>
              </a:rPr>
              <a:t>Program</a:t>
            </a:r>
            <a:r>
              <a:rPr sz="1800" b="1" spc="-40" dirty="0">
                <a:solidFill>
                  <a:srgbClr val="4F81BB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B"/>
                </a:solidFill>
                <a:latin typeface="Cambria"/>
                <a:cs typeface="Cambria"/>
              </a:rPr>
              <a:t>Project</a:t>
            </a:r>
            <a:r>
              <a:rPr sz="1800" b="1" spc="-50" dirty="0">
                <a:solidFill>
                  <a:srgbClr val="4F81BB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4F81BB"/>
                </a:solidFill>
                <a:latin typeface="Cambria"/>
                <a:cs typeface="Cambria"/>
              </a:rPr>
              <a:t>Coordinator</a:t>
            </a:r>
            <a:r>
              <a:rPr sz="1800" b="1" spc="-10" dirty="0">
                <a:solidFill>
                  <a:schemeClr val="accent6"/>
                </a:solidFill>
                <a:latin typeface="Cambria"/>
                <a:cs typeface="Cambria"/>
              </a:rPr>
              <a:t>:</a:t>
            </a:r>
            <a:r>
              <a:rPr sz="1800" b="1" spc="-65" dirty="0">
                <a:solidFill>
                  <a:schemeClr val="accent6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chemeClr val="accent6"/>
                </a:solidFill>
                <a:latin typeface="Cambria"/>
                <a:cs typeface="Cambria"/>
              </a:rPr>
              <a:t>Dr.</a:t>
            </a:r>
            <a:r>
              <a:rPr lang="en-US" sz="1800" b="1" spc="-60" dirty="0">
                <a:solidFill>
                  <a:schemeClr val="accent6"/>
                </a:solidFill>
                <a:latin typeface="Cambria"/>
                <a:cs typeface="Cambria"/>
              </a:rPr>
              <a:t> H M Manjula</a:t>
            </a:r>
            <a:endParaRPr sz="1800" dirty="0">
              <a:solidFill>
                <a:schemeClr val="accent6"/>
              </a:solidFill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b="1" dirty="0">
                <a:solidFill>
                  <a:srgbClr val="4F81BB"/>
                </a:solidFill>
                <a:latin typeface="Cambria"/>
                <a:cs typeface="Cambria"/>
              </a:rPr>
              <a:t>Name</a:t>
            </a:r>
            <a:r>
              <a:rPr sz="1800" b="1" spc="-95" dirty="0">
                <a:solidFill>
                  <a:srgbClr val="4F81BB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B"/>
                </a:solidFill>
                <a:latin typeface="Cambria"/>
                <a:cs typeface="Cambria"/>
              </a:rPr>
              <a:t>of</a:t>
            </a:r>
            <a:r>
              <a:rPr sz="1800" b="1" spc="-60" dirty="0">
                <a:solidFill>
                  <a:srgbClr val="4F81BB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B"/>
                </a:solidFill>
                <a:latin typeface="Cambria"/>
                <a:cs typeface="Cambria"/>
              </a:rPr>
              <a:t>the</a:t>
            </a:r>
            <a:r>
              <a:rPr sz="1800" b="1" spc="-30" dirty="0">
                <a:solidFill>
                  <a:srgbClr val="4F81BB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B"/>
                </a:solidFill>
                <a:latin typeface="Cambria"/>
                <a:cs typeface="Cambria"/>
              </a:rPr>
              <a:t>School</a:t>
            </a:r>
            <a:r>
              <a:rPr sz="1800" b="1" spc="5" dirty="0">
                <a:solidFill>
                  <a:srgbClr val="4F81BB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4F81BB"/>
                </a:solidFill>
                <a:latin typeface="Cambria"/>
                <a:cs typeface="Cambria"/>
              </a:rPr>
              <a:t>Project</a:t>
            </a:r>
            <a:r>
              <a:rPr sz="1800" b="1" spc="-45" dirty="0">
                <a:solidFill>
                  <a:srgbClr val="4F81BB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B"/>
                </a:solidFill>
                <a:latin typeface="Cambria"/>
                <a:cs typeface="Cambria"/>
              </a:rPr>
              <a:t>Coordinators: </a:t>
            </a:r>
            <a:r>
              <a:rPr sz="1800" b="1" dirty="0">
                <a:latin typeface="Cambria"/>
                <a:cs typeface="Cambria"/>
              </a:rPr>
              <a:t>Dr.</a:t>
            </a:r>
            <a:r>
              <a:rPr lang="en-US" b="1" spc="-3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Sampath</a:t>
            </a:r>
            <a:r>
              <a:rPr sz="1800" b="1" spc="-3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A</a:t>
            </a:r>
            <a:r>
              <a:rPr sz="1800" b="1" spc="-2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K</a:t>
            </a:r>
            <a:r>
              <a:rPr sz="1800" b="1" spc="1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,</a:t>
            </a:r>
            <a:r>
              <a:rPr sz="1800" b="1" spc="-10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Dr.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Geetha</a:t>
            </a:r>
            <a:r>
              <a:rPr sz="1800" b="1" spc="-30" dirty="0">
                <a:latin typeface="Cambria"/>
                <a:cs typeface="Cambria"/>
              </a:rPr>
              <a:t> </a:t>
            </a:r>
            <a:r>
              <a:rPr sz="1800" b="1" spc="-50" dirty="0">
                <a:latin typeface="Cambria"/>
                <a:cs typeface="Cambria"/>
              </a:rPr>
              <a:t>A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16" name="object 6">
            <a:extLst>
              <a:ext uri="{FF2B5EF4-FFF2-40B4-BE49-F238E27FC236}">
                <a16:creationId xmlns:a16="http://schemas.microsoft.com/office/drawing/2014/main" id="{AD676143-AE73-2E2A-9BAF-5433C8509A34}"/>
              </a:ext>
            </a:extLst>
          </p:cNvPr>
          <p:cNvSpPr txBox="1"/>
          <p:nvPr/>
        </p:nvSpPr>
        <p:spPr>
          <a:xfrm>
            <a:off x="4162425" y="89725"/>
            <a:ext cx="3064285" cy="6221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37260" marR="5080" indent="-924560">
              <a:lnSpc>
                <a:spcPct val="114700"/>
              </a:lnSpc>
              <a:spcBef>
                <a:spcPts val="95"/>
              </a:spcBef>
            </a:pPr>
            <a:r>
              <a:rPr sz="1800" b="1" dirty="0">
                <a:solidFill>
                  <a:srgbClr val="17365D"/>
                </a:solidFill>
                <a:latin typeface="Cambria"/>
                <a:cs typeface="Cambria"/>
              </a:rPr>
              <a:t>CSE7</a:t>
            </a:r>
            <a:r>
              <a:rPr lang="en-IN" sz="1800" b="1" dirty="0">
                <a:solidFill>
                  <a:srgbClr val="17365D"/>
                </a:solidFill>
                <a:latin typeface="Cambria"/>
                <a:cs typeface="Cambria"/>
              </a:rPr>
              <a:t>302</a:t>
            </a:r>
            <a:r>
              <a:rPr sz="1800" b="1" dirty="0">
                <a:solidFill>
                  <a:srgbClr val="17365D"/>
                </a:solidFill>
                <a:latin typeface="Cambria"/>
                <a:cs typeface="Cambria"/>
              </a:rPr>
              <a:t>-</a:t>
            </a:r>
            <a:r>
              <a:rPr sz="1800" b="1" spc="-5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lang="en-IN" sz="1800" b="1" spc="-10" dirty="0">
                <a:solidFill>
                  <a:srgbClr val="17365D"/>
                </a:solidFill>
                <a:latin typeface="Cambria"/>
                <a:cs typeface="Cambria"/>
              </a:rPr>
              <a:t>University Project</a:t>
            </a:r>
            <a:r>
              <a:rPr sz="1800" b="1" spc="-1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spc="-25" dirty="0">
                <a:solidFill>
                  <a:srgbClr val="17365D"/>
                </a:solidFill>
                <a:latin typeface="Cambria"/>
                <a:cs typeface="Cambria"/>
              </a:rPr>
              <a:t>Review-</a:t>
            </a:r>
            <a:r>
              <a:rPr lang="en-IN" sz="1800" b="1" spc="-50" dirty="0">
                <a:solidFill>
                  <a:srgbClr val="17365D"/>
                </a:solidFill>
                <a:latin typeface="Cambria"/>
                <a:cs typeface="Cambria"/>
              </a:rPr>
              <a:t>2</a:t>
            </a:r>
            <a:endParaRPr sz="1800" dirty="0">
              <a:latin typeface="Cambria"/>
              <a:cs typeface="Cambri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89B450A-C3CE-E50A-E24A-11DBA07024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105038"/>
              </p:ext>
            </p:extLst>
          </p:nvPr>
        </p:nvGraphicFramePr>
        <p:xfrm>
          <a:off x="228600" y="2602319"/>
          <a:ext cx="6113206" cy="1782867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3056603">
                  <a:extLst>
                    <a:ext uri="{9D8B030D-6E8A-4147-A177-3AD203B41FA5}">
                      <a16:colId xmlns:a16="http://schemas.microsoft.com/office/drawing/2014/main" val="4339920"/>
                    </a:ext>
                  </a:extLst>
                </a:gridCol>
                <a:gridCol w="3056603">
                  <a:extLst>
                    <a:ext uri="{9D8B030D-6E8A-4147-A177-3AD203B41FA5}">
                      <a16:colId xmlns:a16="http://schemas.microsoft.com/office/drawing/2014/main" val="2029796196"/>
                    </a:ext>
                  </a:extLst>
                </a:gridCol>
              </a:tblGrid>
              <a:tr h="594289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Roll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Student 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3221828"/>
                  </a:ext>
                </a:extLst>
              </a:tr>
              <a:tr h="594289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20221CSD0099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K Guru Dheeraj Reddy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9161134"/>
                  </a:ext>
                </a:extLst>
              </a:tr>
              <a:tr h="594289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20221CSD0097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Rohith D Raj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887886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NA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76200" indent="0">
              <a:buNone/>
            </a:pPr>
            <a:r>
              <a:rPr lang="en-US" sz="1800" b="1" dirty="0">
                <a:latin typeface="+mj-lt"/>
                <a:ea typeface="Cambria" panose="02040503050406030204" pitchFamily="18" charset="0"/>
              </a:rPr>
              <a:t>Git-hub Link : </a:t>
            </a:r>
            <a:r>
              <a:rPr lang="en-US" sz="1800" b="1" dirty="0">
                <a:latin typeface="+mj-lt"/>
                <a:ea typeface="Cambria" panose="02040503050406030204" pitchFamily="18" charset="0"/>
                <a:hlinkClick r:id="rId3"/>
              </a:rPr>
              <a:t>https://github.com/gurudheeraj/rydFixr_app</a:t>
            </a:r>
            <a:endParaRPr lang="en-IN" sz="1800" dirty="0"/>
          </a:p>
          <a:p>
            <a:pPr marL="76200" indent="0">
              <a:buNone/>
            </a:pPr>
            <a:endParaRPr lang="en-US" sz="1800" b="1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1800" b="1" dirty="0">
                <a:latin typeface="+mj-lt"/>
                <a:ea typeface="Cambria" panose="02040503050406030204" pitchFamily="18" charset="0"/>
              </a:rPr>
              <a:t>Category  </a:t>
            </a:r>
            <a:r>
              <a:rPr lang="en-US" sz="1800" dirty="0">
                <a:latin typeface="+mj-lt"/>
                <a:ea typeface="Cambria" panose="02040503050406030204" pitchFamily="18" charset="0"/>
              </a:rPr>
              <a:t>: Software</a:t>
            </a:r>
          </a:p>
          <a:p>
            <a:pPr marL="76200" indent="0">
              <a:buNone/>
            </a:pPr>
            <a:endParaRPr lang="en-US" sz="1800" dirty="0">
              <a:latin typeface="+mj-lt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US" sz="1800" b="1" dirty="0">
                <a:latin typeface="+mj-lt"/>
                <a:ea typeface="Cambria" panose="02040503050406030204" pitchFamily="18" charset="0"/>
              </a:rPr>
              <a:t>Abstract :</a:t>
            </a:r>
          </a:p>
          <a:p>
            <a:pPr marL="76200" indent="0">
              <a:buNone/>
            </a:pPr>
            <a:endParaRPr lang="en-US" sz="500" b="1" dirty="0">
              <a:latin typeface="+mj-lt"/>
              <a:ea typeface="Cambria" panose="02040503050406030204" pitchFamily="18" charset="0"/>
            </a:endParaRPr>
          </a:p>
          <a:p>
            <a:r>
              <a:rPr lang="en-US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rydFixr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trust-centric, service-based platform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that connects bike owners with verified mechanics (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Fixperts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inspectors, and emergency service providers through a single centralized backend system.</a:t>
            </a:r>
          </a:p>
          <a:p>
            <a:pPr marL="76200" indent="0">
              <a:buNone/>
            </a:pPr>
            <a:endParaRPr lang="en-US" sz="500" dirty="0"/>
          </a:p>
          <a:p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platform ensures transparent and fair pricing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by separating </a:t>
            </a:r>
            <a:r>
              <a:rPr lang="en-US" sz="1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labour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spare parts costs, applying platform fees only on </a:t>
            </a:r>
            <a:r>
              <a:rPr lang="en-US" sz="1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labour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guaranteeing </a:t>
            </a:r>
            <a:r>
              <a:rPr lang="en-US" sz="1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Fixpert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take-home earnings.</a:t>
            </a:r>
          </a:p>
          <a:p>
            <a:pPr marL="76200" indent="0">
              <a:buNone/>
            </a:pPr>
            <a:endParaRPr lang="en-US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Secure escrow-based payments and proof-based service execution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ensure that customers pay only after repair verification and service approval.</a:t>
            </a:r>
          </a:p>
          <a:p>
            <a:pPr marL="76200" indent="0">
              <a:buNone/>
            </a:pPr>
            <a:endParaRPr lang="en-US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structured rework-only warranty model replaces refunds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promoting quality repairs while keeping the platform financially </a:t>
            </a:r>
            <a:r>
              <a:rPr lang="en-US" sz="1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sustainable.Triggers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automatic alerts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usage exceeds threshold.</a:t>
            </a:r>
          </a:p>
          <a:p>
            <a:pPr marL="76200" indent="0">
              <a:buNone/>
            </a:pPr>
            <a:endParaRPr lang="en-US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9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rydFixr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introduces a documented and verifiable service lifecycle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including digital repair records, inspector validation, and structured escalation workflows, improving accountability and trust.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CD605D6B-273C-24BA-DA5B-4AC05A2872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8364" y="277812"/>
            <a:ext cx="7800975" cy="59759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25"/>
              </a:spcBef>
            </a:pPr>
            <a:r>
              <a:rPr dirty="0"/>
              <a:t>Objectives</a:t>
            </a:r>
            <a:r>
              <a:rPr spc="55" dirty="0"/>
              <a:t> </a:t>
            </a:r>
            <a:r>
              <a:rPr spc="-50" dirty="0"/>
              <a:t>: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507769BF-2FAE-C384-533A-2F4D9C40D25E}"/>
              </a:ext>
            </a:extLst>
          </p:cNvPr>
          <p:cNvSpPr txBox="1"/>
          <p:nvPr/>
        </p:nvSpPr>
        <p:spPr>
          <a:xfrm>
            <a:off x="888364" y="1118420"/>
            <a:ext cx="9693275" cy="486351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b="1" dirty="0"/>
              <a:t>To create a trusted digital platform</a:t>
            </a:r>
            <a:r>
              <a:rPr lang="en-US" sz="2000" dirty="0"/>
              <a:t> that connects bike owners with verified mechanics and service partners.</a:t>
            </a:r>
          </a:p>
          <a:p>
            <a:endParaRPr lang="en-US" sz="1500" dirty="0"/>
          </a:p>
          <a:p>
            <a:r>
              <a:rPr lang="en-US" sz="2000" b="1" dirty="0"/>
              <a:t>2.   To make bike repair pricing clear and fair</a:t>
            </a:r>
            <a:r>
              <a:rPr lang="en-US" sz="2000" dirty="0"/>
              <a:t> by separating </a:t>
            </a:r>
            <a:r>
              <a:rPr lang="en-US" sz="2000" dirty="0" err="1"/>
              <a:t>labour</a:t>
            </a:r>
            <a:r>
              <a:rPr lang="en-US" sz="2000" dirty="0"/>
              <a:t> charges and spare parts costs.</a:t>
            </a:r>
          </a:p>
          <a:p>
            <a:endParaRPr lang="en-US" sz="1500" dirty="0"/>
          </a:p>
          <a:p>
            <a:r>
              <a:rPr lang="en-US" sz="2000" b="1" dirty="0"/>
              <a:t>3.   To ensure secure and transparent payments</a:t>
            </a:r>
            <a:r>
              <a:rPr lang="en-US" sz="2000" dirty="0"/>
              <a:t> using escrow so payment is released only after service completion.</a:t>
            </a:r>
          </a:p>
          <a:p>
            <a:endParaRPr lang="en-US" sz="1500" dirty="0"/>
          </a:p>
          <a:p>
            <a:r>
              <a:rPr lang="en-US" sz="2000" b="1" dirty="0"/>
              <a:t>4.   To improve repair quality and accountability</a:t>
            </a:r>
            <a:r>
              <a:rPr lang="en-US" sz="2000" dirty="0"/>
              <a:t> through proof-based work, digital service records, and rework assurance.</a:t>
            </a:r>
          </a:p>
          <a:p>
            <a:endParaRPr lang="en-US" sz="1500" dirty="0"/>
          </a:p>
          <a:p>
            <a:r>
              <a:rPr lang="en-US" sz="2000" b="1" dirty="0"/>
              <a:t>5.   To reduce disputes and fraud</a:t>
            </a:r>
            <a:r>
              <a:rPr lang="en-US" sz="2000" dirty="0"/>
              <a:t> by following structured workflows and admin-controlled service processes.</a:t>
            </a:r>
          </a:p>
          <a:p>
            <a:endParaRPr lang="en-US" sz="1500" dirty="0"/>
          </a:p>
          <a:p>
            <a:r>
              <a:rPr lang="en-US" sz="2000" b="1" dirty="0"/>
              <a:t>6.   To provide a scalable, real-world solution</a:t>
            </a:r>
            <a:r>
              <a:rPr lang="en-US" sz="2000" dirty="0"/>
              <a:t> that balances customer safety, mechanic dignity, and platform sustainability.</a:t>
            </a: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Drawbacks &amp; Existing methods 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901290" y="1630500"/>
            <a:ext cx="10668000" cy="4278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600" b="1" dirty="0"/>
              <a:t>Unclear and inconsistent pricing</a:t>
            </a:r>
            <a:r>
              <a:rPr lang="en-US" sz="1600" dirty="0"/>
              <a:t>, leading to overcharging or disputes.</a:t>
            </a:r>
          </a:p>
          <a:p>
            <a:pPr marL="76200" indent="0">
              <a:lnSpc>
                <a:spcPct val="120000"/>
              </a:lnSpc>
              <a:buNone/>
            </a:pPr>
            <a:endParaRPr lang="en-US" sz="500" dirty="0"/>
          </a:p>
          <a:p>
            <a:pPr>
              <a:lnSpc>
                <a:spcPct val="120000"/>
              </a:lnSpc>
            </a:pPr>
            <a:r>
              <a:rPr lang="en-US" sz="1600" b="1" dirty="0"/>
              <a:t>No service proof or documentation</a:t>
            </a:r>
            <a:r>
              <a:rPr lang="en-US" sz="1600" dirty="0"/>
              <a:t>, so customers cannot verify the work done.</a:t>
            </a:r>
          </a:p>
          <a:p>
            <a:pPr marL="76200" indent="0">
              <a:lnSpc>
                <a:spcPct val="120000"/>
              </a:lnSpc>
              <a:buNone/>
            </a:pPr>
            <a:endParaRPr lang="en-US" sz="500" dirty="0"/>
          </a:p>
          <a:p>
            <a:pPr>
              <a:lnSpc>
                <a:spcPct val="120000"/>
              </a:lnSpc>
            </a:pPr>
            <a:r>
              <a:rPr lang="en-US" sz="1600" b="1" dirty="0"/>
              <a:t>No guarantee or structured rework policy</a:t>
            </a:r>
            <a:r>
              <a:rPr lang="en-US" sz="1600" dirty="0"/>
              <a:t> if the same problem occurs again.</a:t>
            </a:r>
          </a:p>
          <a:p>
            <a:pPr marL="76200" indent="0">
              <a:lnSpc>
                <a:spcPct val="120000"/>
              </a:lnSpc>
              <a:buNone/>
            </a:pPr>
            <a:endParaRPr lang="en-US" sz="500" dirty="0"/>
          </a:p>
          <a:p>
            <a:pPr>
              <a:lnSpc>
                <a:spcPct val="120000"/>
              </a:lnSpc>
            </a:pPr>
            <a:r>
              <a:rPr lang="en-US" sz="1600" b="1" dirty="0"/>
              <a:t>Customers have no protection mechanism</a:t>
            </a:r>
            <a:r>
              <a:rPr lang="en-US" sz="1600" dirty="0"/>
              <a:t> in case of poor or incomplete service.</a:t>
            </a:r>
          </a:p>
          <a:p>
            <a:pPr marL="76200" indent="0">
              <a:lnSpc>
                <a:spcPct val="120000"/>
              </a:lnSpc>
              <a:buNone/>
            </a:pPr>
            <a:endParaRPr lang="en-US" sz="500" dirty="0"/>
          </a:p>
          <a:p>
            <a:pPr>
              <a:lnSpc>
                <a:spcPct val="120000"/>
              </a:lnSpc>
            </a:pPr>
            <a:r>
              <a:rPr lang="en-US" sz="1600" dirty="0"/>
              <a:t>Bike owners visit </a:t>
            </a:r>
            <a:r>
              <a:rPr lang="en-US" sz="1600" b="1" dirty="0"/>
              <a:t>local garages or roadside mechanics</a:t>
            </a:r>
            <a:r>
              <a:rPr lang="en-US" sz="1600" dirty="0"/>
              <a:t> for repairs.</a:t>
            </a:r>
          </a:p>
          <a:p>
            <a:pPr marL="76200" indent="0">
              <a:lnSpc>
                <a:spcPct val="120000"/>
              </a:lnSpc>
              <a:buNone/>
            </a:pPr>
            <a:endParaRPr lang="en-US" sz="500" dirty="0"/>
          </a:p>
          <a:p>
            <a:pPr>
              <a:lnSpc>
                <a:spcPct val="120000"/>
              </a:lnSpc>
            </a:pPr>
            <a:r>
              <a:rPr lang="en-US" sz="1600" dirty="0"/>
              <a:t>There is </a:t>
            </a:r>
            <a:r>
              <a:rPr lang="en-US" sz="1600" b="1" dirty="0"/>
              <a:t>no digital service record or proof</a:t>
            </a:r>
            <a:r>
              <a:rPr lang="en-US" sz="1600" dirty="0"/>
              <a:t> of the repair work.</a:t>
            </a:r>
          </a:p>
          <a:p>
            <a:pPr marL="76200" indent="0">
              <a:lnSpc>
                <a:spcPct val="120000"/>
              </a:lnSpc>
              <a:buNone/>
            </a:pPr>
            <a:endParaRPr lang="en-US" sz="500" dirty="0"/>
          </a:p>
          <a:p>
            <a:pPr>
              <a:lnSpc>
                <a:spcPct val="120000"/>
              </a:lnSpc>
            </a:pPr>
            <a:r>
              <a:rPr lang="en-US" sz="1600" dirty="0"/>
              <a:t>Customer safety and post-repair responsibility are </a:t>
            </a:r>
            <a:r>
              <a:rPr lang="en-US" sz="1600" b="1" dirty="0"/>
              <a:t>not formally handled</a:t>
            </a:r>
            <a:r>
              <a:rPr lang="en-US" sz="1600" dirty="0"/>
              <a:t>.</a:t>
            </a:r>
          </a:p>
          <a:p>
            <a:pPr marL="76200" indent="0">
              <a:lnSpc>
                <a:spcPct val="120000"/>
              </a:lnSpc>
              <a:buNone/>
            </a:pPr>
            <a:endParaRPr lang="en-US" sz="500" dirty="0"/>
          </a:p>
          <a:p>
            <a:pPr>
              <a:lnSpc>
                <a:spcPct val="120000"/>
              </a:lnSpc>
            </a:pPr>
            <a:r>
              <a:rPr lang="en-US" sz="1600" dirty="0"/>
              <a:t>Pricing is usually </a:t>
            </a:r>
            <a:r>
              <a:rPr lang="en-US" sz="1600" b="1" dirty="0"/>
              <a:t>decided verbally</a:t>
            </a:r>
            <a:r>
              <a:rPr lang="en-US" sz="1600" dirty="0"/>
              <a:t> after inspection.</a:t>
            </a:r>
            <a:endParaRPr lang="en-US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7FE8B1E4-F405-C5F7-A549-1A7885352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3C56E067-41C2-4D0E-F859-43CAAB9067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Advantages  &amp; Disadvantages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62B90EBC-CB80-0B03-A53A-9EDBA3F30E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lnSpc>
                <a:spcPct val="120000"/>
              </a:lnSpc>
              <a:buNone/>
            </a:pPr>
            <a:r>
              <a:rPr lang="en-US" sz="2000" b="1" dirty="0">
                <a:latin typeface="+mj-lt"/>
              </a:rPr>
              <a:t>Advantages: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Secure payment after service completion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Better repair quality with service proof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Digital record of bike services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Clear and transparent repair pricing</a:t>
            </a:r>
          </a:p>
          <a:p>
            <a:pPr marL="76200" indent="0">
              <a:lnSpc>
                <a:spcPct val="120000"/>
              </a:lnSpc>
              <a:buNone/>
            </a:pPr>
            <a:endParaRPr lang="en-US" sz="1600" dirty="0">
              <a:latin typeface="+mj-lt"/>
            </a:endParaRPr>
          </a:p>
          <a:p>
            <a:pPr marL="76200" indent="0">
              <a:lnSpc>
                <a:spcPct val="120000"/>
              </a:lnSpc>
              <a:buNone/>
            </a:pPr>
            <a:r>
              <a:rPr lang="en-US" sz="2000" b="1" dirty="0">
                <a:latin typeface="+mj-lt"/>
              </a:rPr>
              <a:t>Disadvantages: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No refund option (only rework)</a:t>
            </a:r>
          </a:p>
          <a:p>
            <a:pPr>
              <a:lnSpc>
                <a:spcPct val="120000"/>
              </a:lnSpc>
            </a:pPr>
            <a:r>
              <a:rPr lang="en-IN" sz="1600" dirty="0"/>
              <a:t>Requires internet connection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Mechanics need basic app training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Inspector service may delay repairs</a:t>
            </a:r>
            <a:endParaRPr lang="en-US" sz="1600" dirty="0">
              <a:latin typeface="+mj-lt"/>
            </a:endParaRPr>
          </a:p>
          <a:p>
            <a:pPr>
              <a:lnSpc>
                <a:spcPct val="120000"/>
              </a:lnSpc>
            </a:pPr>
            <a:endParaRPr lang="en-US" sz="1600" b="1" dirty="0">
              <a:latin typeface="+mj-lt"/>
            </a:endParaRPr>
          </a:p>
          <a:p>
            <a:pPr>
              <a:lnSpc>
                <a:spcPct val="120000"/>
              </a:lnSpc>
            </a:pPr>
            <a:endParaRPr lang="en-US" sz="1600" dirty="0">
              <a:latin typeface="+mj-lt"/>
            </a:endParaRPr>
          </a:p>
          <a:p>
            <a:pPr marL="76200" indent="0">
              <a:lnSpc>
                <a:spcPct val="120000"/>
              </a:lnSpc>
              <a:buNone/>
            </a:pPr>
            <a:endParaRPr lang="en-US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1654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39FAE-277D-1D8E-2174-6D75D4D9A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 &amp; Feasibility Study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F2B69-F60C-1E89-6E67-F83B07EEE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468694"/>
            <a:ext cx="10668000" cy="3920612"/>
          </a:xfrm>
        </p:spPr>
        <p:txBody>
          <a:bodyPr>
            <a:normAutofit/>
          </a:bodyPr>
          <a:lstStyle/>
          <a:p>
            <a:pPr marL="76200" indent="0">
              <a:buNone/>
            </a:pPr>
            <a:r>
              <a:rPr lang="en-IN" sz="2000" b="1" dirty="0"/>
              <a:t>Proposed Method:</a:t>
            </a:r>
          </a:p>
          <a:p>
            <a:pPr marL="76200" indent="0">
              <a:buNone/>
            </a:pPr>
            <a:endParaRPr lang="en-IN" sz="500" dirty="0"/>
          </a:p>
          <a:p>
            <a:r>
              <a:rPr lang="en-US" sz="1600" dirty="0"/>
              <a:t>Customers book bike repair services through the </a:t>
            </a:r>
            <a:r>
              <a:rPr lang="en-US" sz="1600" dirty="0" err="1"/>
              <a:t>rydFixr</a:t>
            </a:r>
            <a:r>
              <a:rPr lang="en-US" sz="1600" dirty="0"/>
              <a:t> platform.</a:t>
            </a:r>
          </a:p>
          <a:p>
            <a:pPr marL="76200" indent="0">
              <a:buNone/>
            </a:pPr>
            <a:endParaRPr lang="en-US" sz="500" dirty="0"/>
          </a:p>
          <a:p>
            <a:r>
              <a:rPr lang="en-US" sz="1600" dirty="0"/>
              <a:t>Nearby verified mechanics (</a:t>
            </a:r>
            <a:r>
              <a:rPr lang="en-US" sz="1600" dirty="0" err="1"/>
              <a:t>Fixperts</a:t>
            </a:r>
            <a:r>
              <a:rPr lang="en-US" sz="1600" dirty="0"/>
              <a:t>) receive and accept service requests.</a:t>
            </a:r>
          </a:p>
          <a:p>
            <a:pPr marL="76200" indent="0">
              <a:buNone/>
            </a:pPr>
            <a:endParaRPr lang="en-US" sz="500" dirty="0"/>
          </a:p>
          <a:p>
            <a:r>
              <a:rPr lang="en-US" sz="1600" dirty="0"/>
              <a:t>Repair cost is shown with </a:t>
            </a:r>
            <a:r>
              <a:rPr lang="en-US" sz="1600" b="1" dirty="0"/>
              <a:t>separate </a:t>
            </a:r>
            <a:r>
              <a:rPr lang="en-US" sz="1600" b="1" dirty="0" err="1"/>
              <a:t>labour</a:t>
            </a:r>
            <a:r>
              <a:rPr lang="en-US" sz="1600" b="1" dirty="0"/>
              <a:t> and spare parts pricing</a:t>
            </a:r>
            <a:r>
              <a:rPr lang="en-US" sz="1600" dirty="0"/>
              <a:t>.</a:t>
            </a:r>
          </a:p>
          <a:p>
            <a:pPr marL="76200" indent="0">
              <a:buNone/>
            </a:pPr>
            <a:endParaRPr lang="en-US" sz="500" dirty="0"/>
          </a:p>
          <a:p>
            <a:r>
              <a:rPr lang="en-US" sz="1600" dirty="0"/>
              <a:t>Customer approves the quotation and makes </a:t>
            </a:r>
            <a:r>
              <a:rPr lang="en-US" sz="1600" b="1" dirty="0"/>
              <a:t>secure escrow-based payment</a:t>
            </a:r>
            <a:r>
              <a:rPr lang="en-US" sz="1600" dirty="0"/>
              <a:t>.</a:t>
            </a:r>
          </a:p>
          <a:p>
            <a:pPr marL="76200" indent="0">
              <a:buNone/>
            </a:pPr>
            <a:endParaRPr lang="en-IN" sz="500" dirty="0"/>
          </a:p>
          <a:p>
            <a:r>
              <a:rPr lang="en-US" sz="1600" dirty="0" err="1"/>
              <a:t>Fixpert</a:t>
            </a:r>
            <a:r>
              <a:rPr lang="en-US" sz="1600" dirty="0"/>
              <a:t> performs the repair and uploads </a:t>
            </a:r>
            <a:r>
              <a:rPr lang="en-US" sz="1600" b="1" dirty="0"/>
              <a:t>photos/videos as proof</a:t>
            </a:r>
            <a:r>
              <a:rPr lang="en-US" sz="1600" dirty="0"/>
              <a:t>.</a:t>
            </a:r>
          </a:p>
          <a:p>
            <a:pPr marL="76200" indent="0">
              <a:buNone/>
            </a:pPr>
            <a:endParaRPr lang="en-US" sz="500" dirty="0"/>
          </a:p>
          <a:p>
            <a:r>
              <a:rPr lang="en-US" sz="1600" dirty="0"/>
              <a:t>Customer verifies the work and approves service completion.</a:t>
            </a:r>
          </a:p>
          <a:p>
            <a:pPr marL="76200" indent="0">
              <a:buNone/>
            </a:pPr>
            <a:endParaRPr lang="en-US" sz="500" dirty="0"/>
          </a:p>
          <a:p>
            <a:r>
              <a:rPr lang="en-US" sz="1600" dirty="0"/>
              <a:t>Payment is released and </a:t>
            </a:r>
            <a:r>
              <a:rPr lang="en-US" sz="1600" b="1" dirty="0"/>
              <a:t>digital service records</a:t>
            </a:r>
            <a:r>
              <a:rPr lang="en-US" sz="1600" dirty="0"/>
              <a:t> are stored.</a:t>
            </a:r>
          </a:p>
        </p:txBody>
      </p:sp>
    </p:spTree>
    <p:extLst>
      <p:ext uri="{BB962C8B-B14F-4D97-AF65-F5344CB8AC3E}">
        <p14:creationId xmlns:p14="http://schemas.microsoft.com/office/powerpoint/2010/main" val="2645215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B183D-BB03-A46D-C697-457F23E52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D44FDD-3052-B07E-0532-251A7A333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 &amp; Feasibility Study </a:t>
            </a:r>
            <a:r>
              <a:rPr lang="en-IN" b="0" dirty="0"/>
              <a:t>contd..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99F111-127A-8BF9-CE8D-BB72923ACC86}"/>
              </a:ext>
            </a:extLst>
          </p:cNvPr>
          <p:cNvSpPr txBox="1"/>
          <p:nvPr/>
        </p:nvSpPr>
        <p:spPr>
          <a:xfrm>
            <a:off x="812800" y="998218"/>
            <a:ext cx="10592620" cy="5432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indent="0">
              <a:buNone/>
            </a:pPr>
            <a:r>
              <a:rPr lang="en-IN" sz="2000" b="1" dirty="0"/>
              <a:t>Feasibility Study:</a:t>
            </a:r>
          </a:p>
          <a:p>
            <a:pPr marL="76200" indent="0">
              <a:buNone/>
            </a:pPr>
            <a:endParaRPr lang="en-IN" sz="1400" dirty="0"/>
          </a:p>
          <a:p>
            <a:pPr marL="76200" indent="0">
              <a:buNone/>
            </a:pPr>
            <a:r>
              <a:rPr lang="en-IN" sz="1400" dirty="0"/>
              <a:t>    </a:t>
            </a:r>
            <a:r>
              <a:rPr lang="en-IN" sz="1800" b="1" dirty="0">
                <a:solidFill>
                  <a:srgbClr val="FF0000"/>
                </a:solidFill>
              </a:rPr>
              <a:t>Technical Feasibility:</a:t>
            </a:r>
          </a:p>
          <a:p>
            <a:pPr marL="361950" indent="-285750">
              <a:buFont typeface="Arial" panose="020B0604020202020204" pitchFamily="34" charset="0"/>
              <a:buChar char="•"/>
            </a:pPr>
            <a:r>
              <a:rPr lang="en-US" sz="1800" dirty="0"/>
              <a:t>Can be developed using existing web and mobile technologies.</a:t>
            </a:r>
          </a:p>
          <a:p>
            <a:pPr marL="361950" indent="-285750">
              <a:buFont typeface="Arial" panose="020B0604020202020204" pitchFamily="34" charset="0"/>
              <a:buChar char="•"/>
            </a:pPr>
            <a:r>
              <a:rPr lang="en-US" sz="1800" dirty="0"/>
              <a:t>Uses a centralized backend with role-based access.</a:t>
            </a:r>
          </a:p>
          <a:p>
            <a:pPr marL="76200"/>
            <a:endParaRPr lang="en-IN" sz="1400" dirty="0"/>
          </a:p>
          <a:p>
            <a:pPr marL="76200"/>
            <a:r>
              <a:rPr lang="en-IN" sz="1400" dirty="0"/>
              <a:t>    </a:t>
            </a:r>
            <a:r>
              <a:rPr lang="en-IN" sz="1800" b="1" dirty="0">
                <a:solidFill>
                  <a:srgbClr val="FF0000"/>
                </a:solidFill>
              </a:rPr>
              <a:t>Economic Feasibility:</a:t>
            </a:r>
          </a:p>
          <a:p>
            <a:pPr marL="361950" indent="-285750">
              <a:buFont typeface="Arial" panose="020B0604020202020204" pitchFamily="34" charset="0"/>
              <a:buChar char="•"/>
            </a:pPr>
            <a:r>
              <a:rPr lang="en-US" sz="1800" dirty="0"/>
              <a:t>Low initial cost compared to physical infrastructure.</a:t>
            </a:r>
          </a:p>
          <a:p>
            <a:pPr marL="361950" indent="-285750">
              <a:buFont typeface="Arial" panose="020B0604020202020204" pitchFamily="34" charset="0"/>
              <a:buChar char="•"/>
            </a:pPr>
            <a:r>
              <a:rPr lang="en-US" sz="1800" dirty="0"/>
              <a:t>Platform earns through service fees on </a:t>
            </a:r>
            <a:r>
              <a:rPr lang="en-US" sz="1800" dirty="0" err="1"/>
              <a:t>labour</a:t>
            </a:r>
            <a:r>
              <a:rPr lang="en-US" sz="1800" dirty="0"/>
              <a:t>.</a:t>
            </a:r>
          </a:p>
          <a:p>
            <a:pPr marL="361950" indent="-285750">
              <a:buFont typeface="Arial" panose="020B0604020202020204" pitchFamily="34" charset="0"/>
              <a:buChar char="•"/>
            </a:pPr>
            <a:r>
              <a:rPr lang="en-US" sz="1800" dirty="0"/>
              <a:t>Sustainable model without heavy discounts or refunds.</a:t>
            </a:r>
            <a:endParaRPr lang="en-US" sz="1700" b="1" dirty="0">
              <a:solidFill>
                <a:srgbClr val="FF0000"/>
              </a:solidFill>
            </a:endParaRPr>
          </a:p>
          <a:p>
            <a:pPr marL="76200"/>
            <a:endParaRPr lang="en-US" sz="1700" b="1" dirty="0">
              <a:solidFill>
                <a:srgbClr val="FF0000"/>
              </a:solidFill>
            </a:endParaRPr>
          </a:p>
          <a:p>
            <a:pPr marL="76200"/>
            <a:r>
              <a:rPr lang="en-US" sz="1600" b="1" dirty="0">
                <a:solidFill>
                  <a:srgbClr val="FF0000"/>
                </a:solidFill>
              </a:rPr>
              <a:t>   </a:t>
            </a:r>
            <a:r>
              <a:rPr lang="en-IN" sz="1800" b="1" dirty="0">
                <a:solidFill>
                  <a:srgbClr val="FF0000"/>
                </a:solidFill>
              </a:rPr>
              <a:t>Operational Feasibility:</a:t>
            </a:r>
          </a:p>
          <a:p>
            <a:pPr marL="361950" indent="-285750">
              <a:buFont typeface="Arial" panose="020B0604020202020204" pitchFamily="34" charset="0"/>
              <a:buChar char="•"/>
            </a:pPr>
            <a:r>
              <a:rPr lang="en-US" sz="1800" dirty="0"/>
              <a:t>Simple interfaces for customers and mechanics.</a:t>
            </a:r>
          </a:p>
          <a:p>
            <a:pPr marL="361950" indent="-285750">
              <a:buFont typeface="Arial" panose="020B0604020202020204" pitchFamily="34" charset="0"/>
              <a:buChar char="•"/>
            </a:pPr>
            <a:r>
              <a:rPr lang="en-US" sz="1800" dirty="0"/>
              <a:t>Easy onboarding and training for </a:t>
            </a:r>
            <a:r>
              <a:rPr lang="en-US" sz="1800" dirty="0" err="1"/>
              <a:t>Fixperts</a:t>
            </a:r>
            <a:r>
              <a:rPr lang="en-US" sz="1800" dirty="0"/>
              <a:t>.</a:t>
            </a:r>
            <a:r>
              <a:rPr lang="en-IN" sz="1700" dirty="0"/>
              <a:t>.</a:t>
            </a:r>
          </a:p>
          <a:p>
            <a:pPr marL="76200"/>
            <a:endParaRPr lang="en-IN" sz="1600" b="1" dirty="0">
              <a:solidFill>
                <a:srgbClr val="FF0000"/>
              </a:solidFill>
            </a:endParaRPr>
          </a:p>
          <a:p>
            <a:pPr marL="76200"/>
            <a:r>
              <a:rPr lang="en-IN" sz="1600" b="1" dirty="0">
                <a:solidFill>
                  <a:srgbClr val="FF0000"/>
                </a:solidFill>
              </a:rPr>
              <a:t>    </a:t>
            </a:r>
            <a:r>
              <a:rPr lang="en-IN" sz="1800" b="1" dirty="0">
                <a:solidFill>
                  <a:srgbClr val="FF0000"/>
                </a:solidFill>
              </a:rPr>
              <a:t>Legal &amp; Ethical Feasibility:</a:t>
            </a:r>
          </a:p>
          <a:p>
            <a:pPr marL="361950" indent="-285750">
              <a:buFont typeface="Arial" panose="020B0604020202020204" pitchFamily="34" charset="0"/>
              <a:buChar char="•"/>
            </a:pPr>
            <a:r>
              <a:rPr lang="en-US" sz="1800" dirty="0"/>
              <a:t>Builds trust between customers and mechanics.</a:t>
            </a:r>
          </a:p>
          <a:p>
            <a:pPr marL="361950" indent="-285750">
              <a:buFont typeface="Arial" panose="020B0604020202020204" pitchFamily="34" charset="0"/>
              <a:buChar char="•"/>
            </a:pPr>
            <a:r>
              <a:rPr lang="en-US" sz="1800" dirty="0"/>
              <a:t>Ensures fair earnings for mechanics.</a:t>
            </a:r>
          </a:p>
          <a:p>
            <a:pPr marL="361950" indent="-285750">
              <a:buFont typeface="Arial" panose="020B0604020202020204" pitchFamily="34" charset="0"/>
              <a:buChar char="•"/>
            </a:pPr>
            <a:r>
              <a:rPr lang="en-US" sz="1800" dirty="0"/>
              <a:t>Improves service accountability and transparency.</a:t>
            </a:r>
            <a:endParaRPr lang="en-IN" sz="1800" b="1" dirty="0">
              <a:solidFill>
                <a:srgbClr val="FF0000"/>
              </a:solidFill>
            </a:endParaRPr>
          </a:p>
          <a:p>
            <a:pPr marL="76200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84355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9B895E2-2635-248F-DB30-D9FC05667D54}"/>
              </a:ext>
            </a:extLst>
          </p:cNvPr>
          <p:cNvSpPr txBox="1"/>
          <p:nvPr/>
        </p:nvSpPr>
        <p:spPr>
          <a:xfrm>
            <a:off x="855407" y="27873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000" b="1" dirty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Architecture Diagram</a:t>
            </a:r>
            <a:endParaRPr lang="en-IN" sz="3000" b="1" dirty="0">
              <a:solidFill>
                <a:schemeClr val="bg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D9CCE8-72F3-2A4E-2F11-E4EE8911E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6464" y="18806"/>
            <a:ext cx="6572647" cy="6560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C4226-B3D3-D950-FC10-D9A246AEF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F52B15-2C58-BF11-416C-23204D0ABB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1162" y="0"/>
            <a:ext cx="7020232" cy="930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80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1893F-881C-AA2E-BBF7-B3BF26FF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DBB21D-5FFB-FCD6-DAA3-14591AA01A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5548" y="0"/>
            <a:ext cx="6348258" cy="886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572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9B7B3-1065-9602-4615-23C8A6F26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Hardware &amp; Software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381124-A868-7A2D-960A-A0C1A9FC4836}"/>
              </a:ext>
            </a:extLst>
          </p:cNvPr>
          <p:cNvSpPr txBox="1"/>
          <p:nvPr/>
        </p:nvSpPr>
        <p:spPr>
          <a:xfrm>
            <a:off x="812800" y="950618"/>
            <a:ext cx="6096000" cy="5524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  <a:buSzPct val="94444"/>
              <a:tabLst>
                <a:tab pos="100965" algn="l"/>
              </a:tabLst>
            </a:pPr>
            <a:r>
              <a:rPr lang="en-US" sz="1800" dirty="0">
                <a:latin typeface="Arial Black" panose="020B0A04020102020204" pitchFamily="34" charset="0"/>
              </a:rPr>
              <a:t>Frontend:</a:t>
            </a:r>
          </a:p>
          <a:p>
            <a:pPr marL="354965" indent="-342900">
              <a:lnSpc>
                <a:spcPct val="100000"/>
              </a:lnSpc>
              <a:spcBef>
                <a:spcPts val="100"/>
              </a:spcBef>
              <a:buSzPct val="94444"/>
              <a:buFont typeface="Arial" panose="020B0604020202020204" pitchFamily="34" charset="0"/>
              <a:buChar char="•"/>
              <a:tabLst>
                <a:tab pos="100965" algn="l"/>
              </a:tabLst>
            </a:pPr>
            <a:r>
              <a:rPr lang="en-US" sz="1800" dirty="0">
                <a:latin typeface="+mn-lt"/>
              </a:rPr>
              <a:t>HTML / XML (for app dev UI design)</a:t>
            </a:r>
          </a:p>
          <a:p>
            <a:pPr marL="354965" indent="-342900">
              <a:lnSpc>
                <a:spcPct val="100000"/>
              </a:lnSpc>
              <a:spcBef>
                <a:spcPts val="100"/>
              </a:spcBef>
              <a:buSzPct val="94444"/>
              <a:buFont typeface="Arial" panose="020B0604020202020204" pitchFamily="34" charset="0"/>
              <a:buChar char="•"/>
              <a:tabLst>
                <a:tab pos="100965" algn="l"/>
              </a:tabLst>
            </a:pPr>
            <a:r>
              <a:rPr lang="en-US" sz="1800" dirty="0">
                <a:latin typeface="+mn-lt"/>
              </a:rPr>
              <a:t>CSS</a:t>
            </a:r>
          </a:p>
          <a:p>
            <a:pPr marL="354965" indent="-342900">
              <a:spcBef>
                <a:spcPts val="100"/>
              </a:spcBef>
              <a:buSzPct val="94444"/>
              <a:buFont typeface="Arial" panose="020B0604020202020204" pitchFamily="34" charset="0"/>
              <a:buChar char="•"/>
              <a:tabLst>
                <a:tab pos="100965" algn="l"/>
              </a:tabLst>
            </a:pPr>
            <a:r>
              <a:rPr lang="en-US" sz="1800" dirty="0">
                <a:latin typeface="+mn-lt"/>
              </a:rPr>
              <a:t>JavaScript / </a:t>
            </a:r>
            <a:r>
              <a:rPr lang="en-US" sz="1800" dirty="0"/>
              <a:t>Kotlin (for app dev)</a:t>
            </a:r>
            <a:endParaRPr lang="en-US" sz="1800" dirty="0">
              <a:latin typeface="+mn-lt"/>
            </a:endParaRPr>
          </a:p>
          <a:p>
            <a:pPr marL="354965" indent="-342900">
              <a:lnSpc>
                <a:spcPct val="100000"/>
              </a:lnSpc>
              <a:spcBef>
                <a:spcPts val="100"/>
              </a:spcBef>
              <a:buSzPct val="94444"/>
              <a:buFont typeface="Arial" panose="020B0604020202020204" pitchFamily="34" charset="0"/>
              <a:buChar char="•"/>
              <a:tabLst>
                <a:tab pos="100965" algn="l"/>
              </a:tabLst>
            </a:pPr>
            <a:r>
              <a:rPr lang="en-US" sz="1800" dirty="0">
                <a:latin typeface="+mn-lt"/>
              </a:rPr>
              <a:t>React.js</a:t>
            </a:r>
          </a:p>
          <a:p>
            <a:pPr marL="12065">
              <a:lnSpc>
                <a:spcPct val="100000"/>
              </a:lnSpc>
              <a:spcBef>
                <a:spcPts val="100"/>
              </a:spcBef>
              <a:buSzPct val="94444"/>
              <a:tabLst>
                <a:tab pos="100965" algn="l"/>
              </a:tabLst>
            </a:pPr>
            <a:r>
              <a:rPr lang="en-US" sz="1800" dirty="0">
                <a:latin typeface="Arial Black" panose="020B0A04020102020204" pitchFamily="34" charset="0"/>
              </a:rPr>
              <a:t>Backend:</a:t>
            </a:r>
          </a:p>
          <a:p>
            <a:pPr marL="354965" indent="-342900">
              <a:lnSpc>
                <a:spcPct val="100000"/>
              </a:lnSpc>
              <a:spcBef>
                <a:spcPts val="100"/>
              </a:spcBef>
              <a:buSzPct val="94444"/>
              <a:buFont typeface="Arial" panose="020B0604020202020204" pitchFamily="34" charset="0"/>
              <a:buChar char="•"/>
              <a:tabLst>
                <a:tab pos="100965" algn="l"/>
              </a:tabLst>
            </a:pPr>
            <a:r>
              <a:rPr lang="en-US" sz="1800" dirty="0">
                <a:latin typeface="+mn-lt"/>
              </a:rPr>
              <a:t>Node.js</a:t>
            </a:r>
          </a:p>
          <a:p>
            <a:pPr marL="354965" indent="-342900">
              <a:lnSpc>
                <a:spcPct val="100000"/>
              </a:lnSpc>
              <a:spcBef>
                <a:spcPts val="100"/>
              </a:spcBef>
              <a:buSzPct val="94444"/>
              <a:buFont typeface="Arial" panose="020B0604020202020204" pitchFamily="34" charset="0"/>
              <a:buChar char="•"/>
              <a:tabLst>
                <a:tab pos="100965" algn="l"/>
              </a:tabLst>
            </a:pPr>
            <a:r>
              <a:rPr lang="en-US" sz="1800" dirty="0">
                <a:latin typeface="+mn-lt"/>
              </a:rPr>
              <a:t>Express.js</a:t>
            </a:r>
          </a:p>
          <a:p>
            <a:pPr marL="12065">
              <a:lnSpc>
                <a:spcPct val="100000"/>
              </a:lnSpc>
              <a:spcBef>
                <a:spcPts val="100"/>
              </a:spcBef>
              <a:buSzPct val="94444"/>
              <a:tabLst>
                <a:tab pos="100965" algn="l"/>
              </a:tabLst>
            </a:pPr>
            <a:r>
              <a:rPr lang="en-US" sz="1800" dirty="0">
                <a:latin typeface="Arial Black" panose="020B0A04020102020204" pitchFamily="34" charset="0"/>
              </a:rPr>
              <a:t>Database:</a:t>
            </a:r>
          </a:p>
          <a:p>
            <a:pPr marL="354965" indent="-342900">
              <a:lnSpc>
                <a:spcPct val="100000"/>
              </a:lnSpc>
              <a:spcBef>
                <a:spcPts val="100"/>
              </a:spcBef>
              <a:buSzPct val="94444"/>
              <a:buFont typeface="Arial" panose="020B0604020202020204" pitchFamily="34" charset="0"/>
              <a:buChar char="•"/>
              <a:tabLst>
                <a:tab pos="100965" algn="l"/>
              </a:tabLst>
            </a:pPr>
            <a:r>
              <a:rPr lang="en-US" sz="1800" dirty="0">
                <a:latin typeface="+mn-lt"/>
              </a:rPr>
              <a:t>MongoDB</a:t>
            </a:r>
          </a:p>
          <a:p>
            <a:pPr marL="12065">
              <a:lnSpc>
                <a:spcPct val="100000"/>
              </a:lnSpc>
              <a:spcBef>
                <a:spcPts val="100"/>
              </a:spcBef>
              <a:buSzPct val="94444"/>
              <a:tabLst>
                <a:tab pos="100965" algn="l"/>
              </a:tabLst>
            </a:pPr>
            <a:r>
              <a:rPr lang="en-US" sz="1800" dirty="0">
                <a:latin typeface="Arial Black" panose="020B0A04020102020204" pitchFamily="34" charset="0"/>
              </a:rPr>
              <a:t>Tools &amp; Platforms:</a:t>
            </a:r>
          </a:p>
          <a:p>
            <a:pPr marL="354965" indent="-342900">
              <a:lnSpc>
                <a:spcPct val="100000"/>
              </a:lnSpc>
              <a:spcBef>
                <a:spcPts val="100"/>
              </a:spcBef>
              <a:buSzPct val="94444"/>
              <a:buFont typeface="Arial" panose="020B0604020202020204" pitchFamily="34" charset="0"/>
              <a:buChar char="•"/>
              <a:tabLst>
                <a:tab pos="100965" algn="l"/>
              </a:tabLst>
            </a:pPr>
            <a:r>
              <a:rPr lang="en-US" sz="1800" dirty="0">
                <a:latin typeface="+mn-lt"/>
              </a:rPr>
              <a:t>Visual Studio Code</a:t>
            </a:r>
          </a:p>
          <a:p>
            <a:pPr marL="354965" indent="-342900">
              <a:lnSpc>
                <a:spcPct val="100000"/>
              </a:lnSpc>
              <a:spcBef>
                <a:spcPts val="100"/>
              </a:spcBef>
              <a:buSzPct val="94444"/>
              <a:buFont typeface="Arial" panose="020B0604020202020204" pitchFamily="34" charset="0"/>
              <a:buChar char="•"/>
              <a:tabLst>
                <a:tab pos="100965" algn="l"/>
              </a:tabLst>
            </a:pPr>
            <a:r>
              <a:rPr lang="en-US" sz="1800" dirty="0">
                <a:latin typeface="+mn-lt"/>
              </a:rPr>
              <a:t>Android Studio</a:t>
            </a:r>
          </a:p>
          <a:p>
            <a:pPr marL="354965" indent="-342900">
              <a:lnSpc>
                <a:spcPct val="100000"/>
              </a:lnSpc>
              <a:spcBef>
                <a:spcPts val="100"/>
              </a:spcBef>
              <a:buSzPct val="94444"/>
              <a:buFont typeface="Arial" panose="020B0604020202020204" pitchFamily="34" charset="0"/>
              <a:buChar char="•"/>
              <a:tabLst>
                <a:tab pos="100965" algn="l"/>
              </a:tabLst>
            </a:pPr>
            <a:r>
              <a:rPr lang="en-US" sz="1800" dirty="0">
                <a:latin typeface="+mn-lt"/>
              </a:rPr>
              <a:t>Git &amp; </a:t>
            </a:r>
            <a:r>
              <a:rPr lang="en-US" sz="1800" dirty="0" err="1">
                <a:latin typeface="+mn-lt"/>
              </a:rPr>
              <a:t>Github</a:t>
            </a:r>
            <a:endParaRPr lang="en-US" sz="1800" dirty="0">
              <a:latin typeface="+mn-lt"/>
            </a:endParaRPr>
          </a:p>
          <a:p>
            <a:pPr marL="354965" indent="-342900">
              <a:lnSpc>
                <a:spcPct val="100000"/>
              </a:lnSpc>
              <a:spcBef>
                <a:spcPts val="100"/>
              </a:spcBef>
              <a:buSzPct val="94444"/>
              <a:buFont typeface="Arial" panose="020B0604020202020204" pitchFamily="34" charset="0"/>
              <a:buChar char="•"/>
              <a:tabLst>
                <a:tab pos="100965" algn="l"/>
              </a:tabLst>
            </a:pPr>
            <a:r>
              <a:rPr lang="en-US" sz="1800" dirty="0">
                <a:latin typeface="+mn-lt"/>
              </a:rPr>
              <a:t>Cloud Platform (AWS/ Render/ Firebase)</a:t>
            </a:r>
          </a:p>
          <a:p>
            <a:pPr marL="12065">
              <a:lnSpc>
                <a:spcPct val="100000"/>
              </a:lnSpc>
              <a:spcBef>
                <a:spcPts val="100"/>
              </a:spcBef>
              <a:buSzPct val="94444"/>
              <a:tabLst>
                <a:tab pos="100965" algn="l"/>
              </a:tabLst>
            </a:pPr>
            <a:r>
              <a:rPr lang="en-US" sz="1800" dirty="0">
                <a:latin typeface="Arial Black" panose="020B0A04020102020204" pitchFamily="34" charset="0"/>
              </a:rPr>
              <a:t>Hardware Components:</a:t>
            </a:r>
          </a:p>
          <a:p>
            <a:pPr marL="354965" indent="-342900">
              <a:lnSpc>
                <a:spcPct val="100000"/>
              </a:lnSpc>
              <a:spcBef>
                <a:spcPts val="100"/>
              </a:spcBef>
              <a:buSzPct val="94444"/>
              <a:buFont typeface="Arial" panose="020B0604020202020204" pitchFamily="34" charset="0"/>
              <a:buChar char="•"/>
              <a:tabLst>
                <a:tab pos="100965" algn="l"/>
              </a:tabLst>
            </a:pPr>
            <a:r>
              <a:rPr lang="en-US" sz="1800" dirty="0">
                <a:latin typeface="+mn-lt"/>
              </a:rPr>
              <a:t>Desktop (for development &amp; admin use)</a:t>
            </a:r>
          </a:p>
          <a:p>
            <a:pPr marL="354965" indent="-342900">
              <a:lnSpc>
                <a:spcPct val="100000"/>
              </a:lnSpc>
              <a:spcBef>
                <a:spcPts val="100"/>
              </a:spcBef>
              <a:buSzPct val="94444"/>
              <a:buFont typeface="Arial" panose="020B0604020202020204" pitchFamily="34" charset="0"/>
              <a:buChar char="•"/>
              <a:tabLst>
                <a:tab pos="100965" algn="l"/>
              </a:tabLst>
            </a:pPr>
            <a:r>
              <a:rPr lang="en-US" sz="1800" dirty="0">
                <a:latin typeface="+mn-lt"/>
              </a:rPr>
              <a:t>Smartphone (for customers &amp; mechanics</a:t>
            </a:r>
          </a:p>
          <a:p>
            <a:pPr marL="12065">
              <a:lnSpc>
                <a:spcPct val="100000"/>
              </a:lnSpc>
              <a:spcBef>
                <a:spcPts val="100"/>
              </a:spcBef>
              <a:buSzPct val="94444"/>
              <a:tabLst>
                <a:tab pos="100965" algn="l"/>
              </a:tabLst>
            </a:pPr>
            <a:endParaRPr lang="en-US" sz="1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11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A1830-9627-1487-A166-456852DFC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Timeline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2186A97-16E9-CECD-9753-C3B32FEE66DB}"/>
              </a:ext>
            </a:extLst>
          </p:cNvPr>
          <p:cNvCxnSpPr/>
          <p:nvPr/>
        </p:nvCxnSpPr>
        <p:spPr>
          <a:xfrm>
            <a:off x="4611329" y="5004619"/>
            <a:ext cx="127819" cy="137652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2E7447-2D8B-BC01-70F8-C20F62B9C840}"/>
              </a:ext>
            </a:extLst>
          </p:cNvPr>
          <p:cNvCxnSpPr/>
          <p:nvPr/>
        </p:nvCxnSpPr>
        <p:spPr>
          <a:xfrm flipV="1">
            <a:off x="4739148" y="4906297"/>
            <a:ext cx="216310" cy="235974"/>
          </a:xfrm>
          <a:prstGeom prst="line">
            <a:avLst/>
          </a:prstGeom>
          <a:ln w="28575">
            <a:solidFill>
              <a:schemeClr val="bg1"/>
            </a:solidFill>
          </a:ln>
          <a:scene3d>
            <a:camera prst="perspectiveFront"/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object 2">
            <a:extLst>
              <a:ext uri="{FF2B5EF4-FFF2-40B4-BE49-F238E27FC236}">
                <a16:creationId xmlns:a16="http://schemas.microsoft.com/office/drawing/2014/main" id="{D37CB6AC-A633-B5C0-87C9-C31C4BFBB7C4}"/>
              </a:ext>
            </a:extLst>
          </p:cNvPr>
          <p:cNvPicPr/>
          <p:nvPr/>
        </p:nvPicPr>
        <p:blipFill>
          <a:blip r:embed="rId2" cstate="print"/>
          <a:srcRect l="1121" t="4380" b="2190"/>
          <a:stretch>
            <a:fillRect/>
          </a:stretch>
        </p:blipFill>
        <p:spPr>
          <a:xfrm>
            <a:off x="812800" y="1064342"/>
            <a:ext cx="1075563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500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5D6E7-AFE7-1AF0-0E23-E5856FAAC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94" y="294302"/>
            <a:ext cx="10668000" cy="487500"/>
          </a:xfrm>
        </p:spPr>
        <p:txBody>
          <a:bodyPr/>
          <a:lstStyle/>
          <a:p>
            <a:r>
              <a:rPr lang="en-IN" dirty="0"/>
              <a:t>Modules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151372-71C0-743C-B4B7-5C22B3B35F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6994" y="1010734"/>
            <a:ext cx="11729883" cy="5155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6200" indent="0">
              <a:buNone/>
            </a:pPr>
            <a:r>
              <a:rPr lang="en-US" sz="1600" b="1" dirty="0"/>
              <a:t>1. </a:t>
            </a:r>
            <a:r>
              <a:rPr lang="en-IN" sz="1600" b="1" dirty="0"/>
              <a:t>User Management Module</a:t>
            </a:r>
            <a:endParaRPr lang="en-US" sz="1600" b="1" dirty="0"/>
          </a:p>
          <a:p>
            <a:r>
              <a:rPr lang="en-IN" sz="1500" dirty="0"/>
              <a:t>Customer registration and login</a:t>
            </a:r>
          </a:p>
          <a:p>
            <a:r>
              <a:rPr lang="en-US" sz="1500" dirty="0" err="1"/>
              <a:t>Fixpert</a:t>
            </a:r>
            <a:r>
              <a:rPr lang="en-US" sz="1500" dirty="0"/>
              <a:t> (mechanic) registration and verification</a:t>
            </a:r>
          </a:p>
          <a:p>
            <a:r>
              <a:rPr lang="en-IN" sz="1500" dirty="0"/>
              <a:t>Role-based access control</a:t>
            </a:r>
          </a:p>
          <a:p>
            <a:r>
              <a:rPr lang="en-IN" sz="1500" dirty="0"/>
              <a:t>Profile management</a:t>
            </a:r>
            <a:endParaRPr lang="en-US" sz="1500" dirty="0"/>
          </a:p>
          <a:p>
            <a:pPr marL="76200" indent="0">
              <a:buNone/>
            </a:pPr>
            <a:endParaRPr lang="en-US" sz="500" b="1" dirty="0"/>
          </a:p>
          <a:p>
            <a:pPr marL="76200" indent="0">
              <a:buNone/>
            </a:pPr>
            <a:r>
              <a:rPr lang="en-US" sz="1600" b="1" dirty="0"/>
              <a:t>2. </a:t>
            </a:r>
            <a:r>
              <a:rPr lang="en-IN" sz="1600" b="1" dirty="0"/>
              <a:t>Service Booking Module</a:t>
            </a:r>
            <a:endParaRPr lang="en-US" sz="1600" b="1" dirty="0"/>
          </a:p>
          <a:p>
            <a:r>
              <a:rPr lang="en-US" sz="1500" dirty="0"/>
              <a:t>Bike repair and service request creation</a:t>
            </a:r>
          </a:p>
          <a:p>
            <a:r>
              <a:rPr lang="en-US" sz="1500" dirty="0"/>
              <a:t>Selection of issue type (engine, electrical, service, etc.)</a:t>
            </a:r>
          </a:p>
          <a:p>
            <a:r>
              <a:rPr lang="en-IN" sz="1500" dirty="0"/>
              <a:t>Location-based </a:t>
            </a:r>
            <a:r>
              <a:rPr lang="en-IN" sz="1500" dirty="0" err="1"/>
              <a:t>Fixpert</a:t>
            </a:r>
            <a:r>
              <a:rPr lang="en-IN" sz="1500" dirty="0"/>
              <a:t> discovery</a:t>
            </a:r>
          </a:p>
          <a:p>
            <a:r>
              <a:rPr lang="en-US" sz="1500" dirty="0"/>
              <a:t>Job request notification to </a:t>
            </a:r>
            <a:r>
              <a:rPr lang="en-US" sz="1500" dirty="0" err="1"/>
              <a:t>Fixperts</a:t>
            </a:r>
            <a:endParaRPr lang="en-US" sz="1500" dirty="0"/>
          </a:p>
          <a:p>
            <a:pPr marL="76200" indent="0">
              <a:buNone/>
            </a:pPr>
            <a:endParaRPr lang="en-US" sz="500" dirty="0"/>
          </a:p>
          <a:p>
            <a:pPr marL="76200" indent="0">
              <a:buNone/>
            </a:pPr>
            <a:r>
              <a:rPr lang="en-US" sz="1600" b="1" dirty="0"/>
              <a:t>3. </a:t>
            </a:r>
            <a:r>
              <a:rPr lang="en-IN" sz="1600" b="1" dirty="0"/>
              <a:t>Pricing &amp; Quotation Module</a:t>
            </a:r>
            <a:endParaRPr lang="en-US" sz="1600" b="1" dirty="0"/>
          </a:p>
          <a:p>
            <a:r>
              <a:rPr lang="en-US" sz="1500" dirty="0"/>
              <a:t>Separate entry of </a:t>
            </a:r>
            <a:r>
              <a:rPr lang="en-US" sz="1500" dirty="0" err="1"/>
              <a:t>labour</a:t>
            </a:r>
            <a:r>
              <a:rPr lang="en-US" sz="1500" dirty="0"/>
              <a:t> cost and spare parts cost</a:t>
            </a:r>
          </a:p>
          <a:p>
            <a:r>
              <a:rPr lang="en-US" sz="1500" dirty="0"/>
              <a:t>Transparent price breakup for customers</a:t>
            </a:r>
          </a:p>
          <a:p>
            <a:r>
              <a:rPr lang="en-US" sz="1500" dirty="0"/>
              <a:t>Quote approval or rejection by customer</a:t>
            </a:r>
          </a:p>
          <a:p>
            <a:r>
              <a:rPr lang="en-US" sz="1500" dirty="0"/>
              <a:t>Platform fee calculation on </a:t>
            </a:r>
            <a:r>
              <a:rPr lang="en-US" sz="1500" dirty="0" err="1"/>
              <a:t>labour</a:t>
            </a:r>
            <a:r>
              <a:rPr lang="en-US" sz="1500" dirty="0"/>
              <a:t> only</a:t>
            </a:r>
          </a:p>
          <a:p>
            <a:pPr marL="7620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69224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F218947-9D7E-2933-0357-1C84E6EED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94" y="294302"/>
            <a:ext cx="10668000" cy="487500"/>
          </a:xfrm>
        </p:spPr>
        <p:txBody>
          <a:bodyPr/>
          <a:lstStyle/>
          <a:p>
            <a:r>
              <a:rPr lang="en-IN" dirty="0"/>
              <a:t>Modules [contd..]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48EBEC3-1E60-5588-287B-006C493582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6994" y="1011772"/>
            <a:ext cx="11729883" cy="5634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6200" indent="0">
              <a:buNone/>
            </a:pPr>
            <a:r>
              <a:rPr lang="en-US" sz="1600" b="1" dirty="0"/>
              <a:t>4. </a:t>
            </a:r>
            <a:r>
              <a:rPr lang="en-IN" sz="1600" b="1" dirty="0"/>
              <a:t>Payment &amp; Escrow </a:t>
            </a:r>
            <a:r>
              <a:rPr lang="en-US" sz="1600" b="1" dirty="0"/>
              <a:t>Module</a:t>
            </a:r>
          </a:p>
          <a:p>
            <a:r>
              <a:rPr lang="en-US" sz="1500" dirty="0"/>
              <a:t>Secure payment collection from customers</a:t>
            </a:r>
          </a:p>
          <a:p>
            <a:r>
              <a:rPr lang="en-IN" sz="1500" dirty="0"/>
              <a:t>Escrow-based payment holding</a:t>
            </a:r>
          </a:p>
          <a:p>
            <a:r>
              <a:rPr lang="en-US" sz="1500" dirty="0"/>
              <a:t>Automatic payment release after service approval</a:t>
            </a:r>
          </a:p>
          <a:p>
            <a:r>
              <a:rPr lang="en-IN" sz="1500" dirty="0"/>
              <a:t>Transaction and payment history</a:t>
            </a:r>
          </a:p>
          <a:p>
            <a:pPr marL="76200" indent="0">
              <a:buNone/>
            </a:pPr>
            <a:endParaRPr lang="en-US" sz="500" dirty="0"/>
          </a:p>
          <a:p>
            <a:pPr marL="76200" indent="0">
              <a:buNone/>
            </a:pPr>
            <a:r>
              <a:rPr lang="en-US" sz="1600" b="1" dirty="0"/>
              <a:t>5. </a:t>
            </a:r>
            <a:r>
              <a:rPr lang="en-IN" sz="1600" b="1" dirty="0"/>
              <a:t>Repair Execution &amp; Proof Module</a:t>
            </a:r>
            <a:endParaRPr lang="en-US" sz="1600" b="1" dirty="0"/>
          </a:p>
          <a:p>
            <a:r>
              <a:rPr lang="en-US" sz="1500" dirty="0"/>
              <a:t>Job status tracking (accepted, in progress, completed)</a:t>
            </a:r>
          </a:p>
          <a:p>
            <a:r>
              <a:rPr lang="en-US" sz="1500" dirty="0"/>
              <a:t>Upload of repair photos and videos</a:t>
            </a:r>
          </a:p>
          <a:p>
            <a:r>
              <a:rPr lang="en-US" sz="1500" dirty="0"/>
              <a:t>Proof validation for completed work</a:t>
            </a:r>
          </a:p>
          <a:p>
            <a:r>
              <a:rPr lang="en-IN" sz="1500" dirty="0"/>
              <a:t>Digital repair documentation</a:t>
            </a:r>
            <a:endParaRPr lang="en-US" sz="1500" dirty="0"/>
          </a:p>
          <a:p>
            <a:pPr marL="76200" indent="0">
              <a:buNone/>
            </a:pPr>
            <a:endParaRPr lang="en-US" sz="500" dirty="0"/>
          </a:p>
          <a:p>
            <a:pPr marL="76200" indent="0">
              <a:buNone/>
            </a:pPr>
            <a:r>
              <a:rPr lang="en-US" sz="1600" b="1" dirty="0"/>
              <a:t>6. </a:t>
            </a:r>
            <a:r>
              <a:rPr lang="en-IN" sz="1600" b="1" dirty="0"/>
              <a:t>Rework &amp; Warranty Module</a:t>
            </a:r>
            <a:endParaRPr lang="en-US" sz="1600" b="1" dirty="0"/>
          </a:p>
          <a:p>
            <a:r>
              <a:rPr lang="en-US" sz="1600" dirty="0"/>
              <a:t>Rework request within allowed time window</a:t>
            </a:r>
          </a:p>
          <a:p>
            <a:r>
              <a:rPr lang="en-IN" sz="1600" dirty="0"/>
              <a:t>Validation of rework eligibility</a:t>
            </a:r>
            <a:endParaRPr lang="en-US" sz="1500" dirty="0"/>
          </a:p>
          <a:p>
            <a:r>
              <a:rPr lang="en-US" sz="1600" dirty="0"/>
              <a:t>Free rework by the same </a:t>
            </a:r>
            <a:r>
              <a:rPr lang="en-US" sz="1600" dirty="0" err="1"/>
              <a:t>Fixpert</a:t>
            </a:r>
            <a:r>
              <a:rPr lang="en-US" sz="1600" dirty="0"/>
              <a:t> </a:t>
            </a:r>
          </a:p>
          <a:p>
            <a:r>
              <a:rPr lang="en-IN" sz="1600" dirty="0"/>
              <a:t>Rework completion tracking</a:t>
            </a:r>
            <a:endParaRPr lang="en-US" sz="1500" dirty="0"/>
          </a:p>
          <a:p>
            <a:pPr marL="76200" indent="0">
              <a:buNone/>
            </a:pPr>
            <a:endParaRPr lang="en-US" sz="1500" dirty="0"/>
          </a:p>
          <a:p>
            <a:pPr marL="7620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EA461-5CFE-58A3-15A5-9F5BF65D1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Modules [contd..]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8B00C4-BA79-A222-09D5-040D6953C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143000"/>
            <a:ext cx="10668000" cy="4962831"/>
          </a:xfrm>
        </p:spPr>
        <p:txBody>
          <a:bodyPr>
            <a:normAutofit/>
          </a:bodyPr>
          <a:lstStyle/>
          <a:p>
            <a:pPr marL="76200" indent="0">
              <a:buNone/>
            </a:pPr>
            <a:r>
              <a:rPr lang="en-US" sz="1600" b="1" dirty="0"/>
              <a:t>7. </a:t>
            </a:r>
            <a:r>
              <a:rPr lang="en-IN" sz="1600" b="1" dirty="0"/>
              <a:t>Inspector (Verified Assist) Module</a:t>
            </a:r>
          </a:p>
          <a:p>
            <a:r>
              <a:rPr lang="en-US" sz="1500" dirty="0"/>
              <a:t>Assignment of inspector for high-risk repairs</a:t>
            </a:r>
          </a:p>
          <a:p>
            <a:r>
              <a:rPr lang="en-IN" sz="1500" dirty="0"/>
              <a:t>Independent repair verification</a:t>
            </a:r>
          </a:p>
          <a:p>
            <a:r>
              <a:rPr lang="en-IN" sz="1500" dirty="0"/>
              <a:t>Upload of inspection proof</a:t>
            </a:r>
          </a:p>
          <a:p>
            <a:r>
              <a:rPr lang="en-IN" sz="1500" dirty="0"/>
              <a:t>Submission of verification reports</a:t>
            </a:r>
          </a:p>
          <a:p>
            <a:pPr marL="76200" indent="0">
              <a:buNone/>
            </a:pPr>
            <a:endParaRPr lang="en-IN" sz="500" b="1" dirty="0"/>
          </a:p>
          <a:p>
            <a:pPr marL="76200" indent="0">
              <a:buNone/>
            </a:pPr>
            <a:r>
              <a:rPr lang="en-IN" sz="1600" b="1" dirty="0"/>
              <a:t>8. Admin &amp; Monitoring Module</a:t>
            </a:r>
          </a:p>
          <a:p>
            <a:r>
              <a:rPr lang="en-US" sz="1500" dirty="0" err="1"/>
              <a:t>Fixpert</a:t>
            </a:r>
            <a:r>
              <a:rPr lang="en-US" sz="1500" dirty="0"/>
              <a:t> and partner approval/suspension</a:t>
            </a:r>
          </a:p>
          <a:p>
            <a:r>
              <a:rPr lang="en-IN" sz="1500" dirty="0"/>
              <a:t>Dispute handling and escalation</a:t>
            </a:r>
          </a:p>
          <a:p>
            <a:r>
              <a:rPr lang="en-US" sz="1500" dirty="0"/>
              <a:t>Job and payment state management</a:t>
            </a:r>
          </a:p>
          <a:p>
            <a:r>
              <a:rPr lang="en-IN" sz="1500" dirty="0"/>
              <a:t>Platform analytics and reporting</a:t>
            </a:r>
          </a:p>
          <a:p>
            <a:pPr marL="76200" indent="0">
              <a:buNone/>
            </a:pPr>
            <a:endParaRPr lang="en-IN" sz="500" b="1" dirty="0"/>
          </a:p>
          <a:p>
            <a:pPr marL="76200" indent="0">
              <a:buNone/>
            </a:pPr>
            <a:r>
              <a:rPr lang="en-IN" sz="1500" b="1" dirty="0"/>
              <a:t>9. </a:t>
            </a:r>
            <a:r>
              <a:rPr lang="en-IN" sz="1600" b="1" dirty="0"/>
              <a:t>Notification &amp; Communication Module</a:t>
            </a:r>
          </a:p>
          <a:p>
            <a:r>
              <a:rPr lang="en-US" sz="1600" dirty="0"/>
              <a:t>Job alerts and status notifications</a:t>
            </a:r>
          </a:p>
          <a:p>
            <a:r>
              <a:rPr lang="en-IN" sz="1600" dirty="0"/>
              <a:t>Payment and approval notifications</a:t>
            </a:r>
          </a:p>
          <a:p>
            <a:r>
              <a:rPr lang="en-IN" sz="1600" dirty="0"/>
              <a:t>System updates and reminders</a:t>
            </a:r>
            <a:endParaRPr lang="en-US" sz="1500" b="1" dirty="0"/>
          </a:p>
        </p:txBody>
      </p:sp>
    </p:spTree>
    <p:extLst>
      <p:ext uri="{BB962C8B-B14F-4D97-AF65-F5344CB8AC3E}">
        <p14:creationId xmlns:p14="http://schemas.microsoft.com/office/powerpoint/2010/main" val="3536524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E7CCB77E-41DC-3DE6-2CDD-92D800D8BA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8364" y="277812"/>
            <a:ext cx="7800975" cy="59759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25"/>
              </a:spcBef>
            </a:pPr>
            <a:r>
              <a:rPr dirty="0"/>
              <a:t>References</a:t>
            </a:r>
            <a:r>
              <a:rPr spc="55" dirty="0"/>
              <a:t> </a:t>
            </a:r>
            <a:r>
              <a:rPr dirty="0"/>
              <a:t>(IEEE</a:t>
            </a:r>
            <a:r>
              <a:rPr spc="70" dirty="0"/>
              <a:t> </a:t>
            </a:r>
            <a:r>
              <a:rPr dirty="0"/>
              <a:t>Paper</a:t>
            </a:r>
            <a:r>
              <a:rPr spc="-20" dirty="0"/>
              <a:t> </a:t>
            </a:r>
            <a:r>
              <a:rPr spc="-10" dirty="0"/>
              <a:t>format)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55A5F2F8-092D-AFE7-CDA8-0E1A842A86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88364" y="1360485"/>
            <a:ext cx="11165984" cy="4765407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0" marR="1212215" indent="0">
              <a:lnSpc>
                <a:spcPts val="2330"/>
              </a:lnSpc>
              <a:spcBef>
                <a:spcPts val="260"/>
              </a:spcBef>
              <a:buNone/>
              <a:tabLst>
                <a:tab pos="3018790" algn="l"/>
                <a:tab pos="3562350" algn="l"/>
                <a:tab pos="4855210" algn="l"/>
              </a:tabLst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[1]     </a:t>
            </a:r>
            <a:r>
              <a:rPr lang="en-IN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 action="ppaction://hlinkfile"/>
              </a:rPr>
              <a:t>Suleymanberdiyev</a:t>
            </a:r>
            <a:r>
              <a:rPr lang="en-I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 action="ppaction://hlinkfile"/>
              </a:rPr>
              <a:t>, M., K. </a:t>
            </a:r>
            <a:r>
              <a:rPr lang="en-IN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 action="ppaction://hlinkfile"/>
              </a:rPr>
              <a:t>Orazmyradov</a:t>
            </a:r>
            <a:r>
              <a:rPr lang="en-I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 action="ppaction://hlinkfile"/>
              </a:rPr>
              <a:t>, and I. </a:t>
            </a:r>
            <a:r>
              <a:rPr lang="en-IN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 action="ppaction://hlinkfile"/>
              </a:rPr>
              <a:t>Tagangylyjov</a:t>
            </a:r>
            <a:r>
              <a:rPr lang="en-I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 action="ppaction://hlinkfile"/>
              </a:rPr>
              <a:t>. "BIKE SERVICING APP." </a:t>
            </a:r>
            <a:r>
              <a:rPr lang="az-Cyrl-AZ" sz="16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 action="ppaction://hlinkfile"/>
              </a:rPr>
              <a:t>ОБРАЗОВАНИЕ И </a:t>
            </a:r>
            <a:r>
              <a:rPr lang="en-IN" sz="16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 action="ppaction://hlinkfile"/>
              </a:rPr>
              <a:t>    </a:t>
            </a:r>
            <a:r>
              <a:rPr lang="az-Cyrl-AZ" sz="16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 action="ppaction://hlinkfile"/>
              </a:rPr>
              <a:t>НАУКА В </a:t>
            </a:r>
            <a:r>
              <a:rPr lang="en-IN" sz="16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 action="ppaction://hlinkfile"/>
              </a:rPr>
              <a:t>XXI </a:t>
            </a:r>
            <a:r>
              <a:rPr lang="az-Cyrl-AZ" sz="16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 action="ppaction://hlinkfile"/>
              </a:rPr>
              <a:t>ВЕКЕ</a:t>
            </a:r>
            <a:r>
              <a:rPr lang="az-Cyrl-AZ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 action="ppaction://hlinkfile"/>
              </a:rPr>
              <a:t> 62-2 (том 5) (2025).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1212215" indent="0">
              <a:lnSpc>
                <a:spcPts val="2330"/>
              </a:lnSpc>
              <a:spcBef>
                <a:spcPts val="260"/>
              </a:spcBef>
              <a:buNone/>
              <a:tabLst>
                <a:tab pos="3018790" algn="l"/>
                <a:tab pos="3562350" algn="l"/>
                <a:tab pos="4855210" algn="l"/>
              </a:tabLst>
            </a:pPr>
            <a:endParaRPr lang="en-US" sz="100" dirty="0">
              <a:latin typeface="+mn-lt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1212215" indent="0">
              <a:lnSpc>
                <a:spcPts val="2330"/>
              </a:lnSpc>
              <a:spcBef>
                <a:spcPts val="260"/>
              </a:spcBef>
              <a:buNone/>
              <a:tabLst>
                <a:tab pos="3018790" algn="l"/>
                <a:tab pos="3562350" algn="l"/>
                <a:tab pos="4855210" algn="l"/>
              </a:tabLst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[2]     </a:t>
            </a:r>
            <a:r>
              <a:rPr lang="en-I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 action="ppaction://hlinkfile"/>
              </a:rPr>
              <a:t>R. G. Suresh Kumar, R. Karthik, J. SathishKumar, G. Gowtham, and M. </a:t>
            </a:r>
            <a:r>
              <a:rPr lang="en-IN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 action="ppaction://hlinkfile"/>
              </a:rPr>
              <a:t>Shanmugadasan</a:t>
            </a:r>
            <a:r>
              <a:rPr lang="en-I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 action="ppaction://hlinkfile"/>
              </a:rPr>
              <a:t>, “Roadside     Assistance for Vehicle Breakdown,” </a:t>
            </a:r>
            <a:r>
              <a:rPr lang="en-IN" sz="16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 action="ppaction://hlinkfile"/>
              </a:rPr>
              <a:t>International Journal for Research in Applied Science &amp; Engineering Technology (IJRASET)</a:t>
            </a:r>
            <a:r>
              <a:rPr lang="en-I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 action="ppaction://hlinkfile"/>
              </a:rPr>
              <a:t>, vol. 13, no. 5, May 2025, </a:t>
            </a:r>
            <a:r>
              <a:rPr lang="en-IN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 action="ppaction://hlinkfile"/>
              </a:rPr>
              <a:t>doi</a:t>
            </a:r>
            <a:r>
              <a:rPr lang="en-I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 action="ppaction://hlinkfile"/>
              </a:rPr>
              <a:t>: 10.22214/ijraset.2025.70634. </a:t>
            </a:r>
            <a:endParaRPr lang="en-IN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1212215" indent="0">
              <a:lnSpc>
                <a:spcPts val="2330"/>
              </a:lnSpc>
              <a:spcBef>
                <a:spcPts val="260"/>
              </a:spcBef>
              <a:buNone/>
              <a:tabLst>
                <a:tab pos="3018790" algn="l"/>
                <a:tab pos="3562350" algn="l"/>
                <a:tab pos="4855210" algn="l"/>
              </a:tabLst>
            </a:pPr>
            <a:endParaRPr lang="en-US" sz="500" spc="13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1212215" indent="0">
              <a:lnSpc>
                <a:spcPts val="2330"/>
              </a:lnSpc>
              <a:spcBef>
                <a:spcPts val="260"/>
              </a:spcBef>
              <a:buNone/>
              <a:tabLst>
                <a:tab pos="3018790" algn="l"/>
                <a:tab pos="3562350" algn="l"/>
                <a:tab pos="4855210" algn="l"/>
              </a:tabLst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[3]     </a:t>
            </a:r>
            <a:r>
              <a:rPr lang="en-I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/>
              </a:rPr>
              <a:t>P. Wagh, K. Patil, K. </a:t>
            </a:r>
            <a:r>
              <a:rPr lang="en-IN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/>
              </a:rPr>
              <a:t>Kosrabe</a:t>
            </a:r>
            <a:r>
              <a:rPr lang="en-I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/>
              </a:rPr>
              <a:t>, and C. </a:t>
            </a:r>
            <a:r>
              <a:rPr lang="en-IN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/>
              </a:rPr>
              <a:t>Padole</a:t>
            </a:r>
            <a:r>
              <a:rPr lang="en-I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/>
              </a:rPr>
              <a:t>, "On Road Vehicle Breakdown Assistance Management System," International Journal for Research in Applied Science &amp; Engineering Technology (IJRASET), vol. 12, no. 4, pp. 2713-2718, Apr. 2024</a:t>
            </a:r>
            <a:endParaRPr lang="en-IN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1212215" indent="0">
              <a:lnSpc>
                <a:spcPts val="2330"/>
              </a:lnSpc>
              <a:spcBef>
                <a:spcPts val="260"/>
              </a:spcBef>
              <a:buNone/>
              <a:tabLst>
                <a:tab pos="3018790" algn="l"/>
                <a:tab pos="3562350" algn="l"/>
                <a:tab pos="4855210" algn="l"/>
              </a:tabLst>
            </a:pPr>
            <a:endParaRPr lang="en-US" sz="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1212215" indent="0">
              <a:lnSpc>
                <a:spcPts val="2330"/>
              </a:lnSpc>
              <a:spcBef>
                <a:spcPts val="260"/>
              </a:spcBef>
              <a:buNone/>
              <a:tabLst>
                <a:tab pos="3018790" algn="l"/>
                <a:tab pos="3562350" algn="l"/>
                <a:tab pos="4855210" algn="l"/>
              </a:tabLst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[4]     </a:t>
            </a:r>
            <a:r>
              <a:rPr lang="en-I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5" action="ppaction://hlinkfile"/>
              </a:rPr>
              <a:t>Mrs. S. Angamuthu, V. Deepika, S. Akash Chandru, K. Surendar, and R. Kavin, “Vehicle Breakdown Assistance Management System,” </a:t>
            </a:r>
            <a:r>
              <a:rPr lang="en-IN" sz="16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5" action="ppaction://hlinkfile"/>
              </a:rPr>
              <a:t>International Scientific Journal of Engineering and Management (ISJEM)</a:t>
            </a:r>
            <a:r>
              <a:rPr lang="en-I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5" action="ppaction://hlinkfile"/>
              </a:rPr>
              <a:t>, vol. 2, no. 4, Apr. 2023, </a:t>
            </a:r>
            <a:r>
              <a:rPr lang="en-IN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5" action="ppaction://hlinkfile"/>
              </a:rPr>
              <a:t>doi</a:t>
            </a:r>
            <a:r>
              <a:rPr lang="en-I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5" action="ppaction://hlinkfile"/>
              </a:rPr>
              <a:t>: 10.55041/ISJEM00330</a:t>
            </a:r>
            <a:endParaRPr lang="en-IN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1212215" indent="0">
              <a:lnSpc>
                <a:spcPts val="2330"/>
              </a:lnSpc>
              <a:spcBef>
                <a:spcPts val="260"/>
              </a:spcBef>
              <a:buNone/>
              <a:tabLst>
                <a:tab pos="3018790" algn="l"/>
                <a:tab pos="3562350" algn="l"/>
                <a:tab pos="4855210" algn="l"/>
              </a:tabLst>
            </a:pPr>
            <a:endParaRPr lang="en-IN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16241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DF2BA9AD-0ED9-C59B-87B7-FD145E9DF2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8364" y="346740"/>
            <a:ext cx="10674371" cy="4597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25"/>
              </a:spcBef>
            </a:pPr>
            <a:r>
              <a:rPr dirty="0"/>
              <a:t>References</a:t>
            </a:r>
            <a:r>
              <a:rPr spc="55" dirty="0"/>
              <a:t> </a:t>
            </a:r>
            <a:r>
              <a:rPr lang="en-IN" spc="-10" dirty="0"/>
              <a:t>[contd..]</a:t>
            </a:r>
            <a:endParaRPr spc="-10"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7BB44149-6DC0-D940-FC04-A2CE2A5673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88364" y="1204453"/>
            <a:ext cx="10920178" cy="472693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0" marR="1212215" indent="0">
              <a:lnSpc>
                <a:spcPts val="2330"/>
              </a:lnSpc>
              <a:spcBef>
                <a:spcPts val="260"/>
              </a:spcBef>
              <a:buNone/>
              <a:tabLst>
                <a:tab pos="3018790" algn="l"/>
                <a:tab pos="3562350" algn="l"/>
                <a:tab pos="4855210" algn="l"/>
              </a:tabLst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[5]     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 action="ppaction://hlinkfile"/>
              </a:rPr>
              <a:t>M. A. Zainodin and H. Aman, “On-Road Car Breakdown Assistant Finder,” </a:t>
            </a:r>
            <a:r>
              <a:rPr lang="en-US" sz="16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 action="ppaction://hlinkfile"/>
              </a:rPr>
              <a:t>Applied Information Technology and Computer Science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 action="ppaction://hlinkfile"/>
              </a:rPr>
              <a:t>, vol. 1, no. 1, pp. 210–231, Dec. 2020,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 action="ppaction://hlinkfile"/>
              </a:rPr>
              <a:t>doi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 action="ppaction://hlinkfile"/>
              </a:rPr>
              <a:t>: 10.30880/aitcs.2020.01.01.021.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1212215" indent="0">
              <a:lnSpc>
                <a:spcPts val="2330"/>
              </a:lnSpc>
              <a:spcBef>
                <a:spcPts val="260"/>
              </a:spcBef>
              <a:buNone/>
              <a:tabLst>
                <a:tab pos="3018790" algn="l"/>
                <a:tab pos="3562350" algn="l"/>
                <a:tab pos="4855210" algn="l"/>
              </a:tabLst>
            </a:pP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1212215" indent="0">
              <a:lnSpc>
                <a:spcPts val="2330"/>
              </a:lnSpc>
              <a:spcBef>
                <a:spcPts val="260"/>
              </a:spcBef>
              <a:buNone/>
              <a:tabLst>
                <a:tab pos="3018790" algn="l"/>
                <a:tab pos="3562350" algn="l"/>
                <a:tab pos="4855210" algn="l"/>
              </a:tabLst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[6]      </a:t>
            </a:r>
            <a:r>
              <a:rPr lang="en-I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 action="ppaction://hlinkfile"/>
              </a:rPr>
              <a:t>C. S. Aravinthan and M. Hemalatha, “On Road Vehicle Breakdown Help Assistance Web Application,” </a:t>
            </a:r>
            <a:r>
              <a:rPr lang="en-IN" sz="16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 action="ppaction://hlinkfile"/>
              </a:rPr>
              <a:t>International Journal of Scientific Research in Science and Technology (IJSRST)</a:t>
            </a:r>
            <a:r>
              <a:rPr lang="en-I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 action="ppaction://hlinkfile"/>
              </a:rPr>
              <a:t>, vol. 11, no. 2, pp. 392–394, Mar.–Apr. 2024, </a:t>
            </a:r>
            <a:r>
              <a:rPr lang="en-IN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 action="ppaction://hlinkfile"/>
              </a:rPr>
              <a:t>doi</a:t>
            </a:r>
            <a:r>
              <a:rPr lang="en-I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 action="ppaction://hlinkfile"/>
              </a:rPr>
              <a:t>: 10.32628/IJSRST52411274.</a:t>
            </a:r>
            <a:endParaRPr lang="en-IN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1212215" indent="0">
              <a:lnSpc>
                <a:spcPts val="2330"/>
              </a:lnSpc>
              <a:spcBef>
                <a:spcPts val="260"/>
              </a:spcBef>
              <a:buNone/>
              <a:tabLst>
                <a:tab pos="3018790" algn="l"/>
                <a:tab pos="3562350" algn="l"/>
                <a:tab pos="4855210" algn="l"/>
              </a:tabLst>
            </a:pPr>
            <a:endParaRPr lang="en-US" sz="1600" spc="13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1212215" indent="0">
              <a:lnSpc>
                <a:spcPts val="2330"/>
              </a:lnSpc>
              <a:spcBef>
                <a:spcPts val="260"/>
              </a:spcBef>
              <a:buNone/>
              <a:tabLst>
                <a:tab pos="3018790" algn="l"/>
                <a:tab pos="3562350" algn="l"/>
                <a:tab pos="4855210" algn="l"/>
              </a:tabLst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[7]</a:t>
            </a:r>
            <a:r>
              <a:rPr lang="en-I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</a:t>
            </a:r>
            <a:r>
              <a:rPr lang="en-I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 action="ppaction://hlinkfile"/>
              </a:rPr>
              <a:t>M. A. D. Wickrama, U. M. I. S. Ekanayake, D. S. C. </a:t>
            </a:r>
            <a:r>
              <a:rPr lang="en-IN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 action="ppaction://hlinkfile"/>
              </a:rPr>
              <a:t>Dharmakeerthi</a:t>
            </a:r>
            <a:r>
              <a:rPr lang="en-I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 action="ppaction://hlinkfile"/>
              </a:rPr>
              <a:t>, M. P. Gamage, S. A. Balasooriya, and N. </a:t>
            </a:r>
            <a:r>
              <a:rPr lang="en-IN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 action="ppaction://hlinkfile"/>
              </a:rPr>
              <a:t>Amarasena</a:t>
            </a:r>
            <a:r>
              <a:rPr lang="en-I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 action="ppaction://hlinkfile"/>
              </a:rPr>
              <a:t>, “Mobile Based Solution for Vehicle Assistance,” in </a:t>
            </a:r>
            <a:r>
              <a:rPr lang="en-IN" sz="16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 action="ppaction://hlinkfile"/>
              </a:rPr>
              <a:t>Proc. 3rd Int. Conf. on Advancements in Computing (ICAC)</a:t>
            </a:r>
            <a:r>
              <a:rPr lang="en-I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 action="ppaction://hlinkfile"/>
              </a:rPr>
              <a:t>, 2021, pp. 31–36, </a:t>
            </a:r>
            <a:r>
              <a:rPr lang="en-IN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 action="ppaction://hlinkfile"/>
              </a:rPr>
              <a:t>doi</a:t>
            </a:r>
            <a:r>
              <a:rPr lang="en-I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 action="ppaction://hlinkfile"/>
              </a:rPr>
              <a:t>: 10.1109/ICAC54203.2021.9671196.</a:t>
            </a:r>
            <a:endParaRPr lang="en-IN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1212215" indent="0">
              <a:lnSpc>
                <a:spcPts val="2330"/>
              </a:lnSpc>
              <a:spcBef>
                <a:spcPts val="260"/>
              </a:spcBef>
              <a:buNone/>
              <a:tabLst>
                <a:tab pos="3018790" algn="l"/>
                <a:tab pos="3562350" algn="l"/>
                <a:tab pos="4855210" algn="l"/>
              </a:tabLst>
            </a:pPr>
            <a:endParaRPr lang="en-IN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1212215" indent="0">
              <a:lnSpc>
                <a:spcPts val="2330"/>
              </a:lnSpc>
              <a:spcBef>
                <a:spcPts val="260"/>
              </a:spcBef>
              <a:buNone/>
              <a:tabLst>
                <a:tab pos="3018790" algn="l"/>
                <a:tab pos="3562350" algn="l"/>
                <a:tab pos="4855210" algn="l"/>
              </a:tabLst>
            </a:pPr>
            <a:r>
              <a:rPr lang="en-I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[8]      </a:t>
            </a:r>
            <a:r>
              <a:rPr lang="en-I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5" action="ppaction://hlinkfile"/>
              </a:rPr>
              <a:t>S. N. </a:t>
            </a:r>
            <a:r>
              <a:rPr lang="en-IN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5" action="ppaction://hlinkfile"/>
              </a:rPr>
              <a:t>Udapure</a:t>
            </a:r>
            <a:r>
              <a:rPr lang="en-I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5" action="ppaction://hlinkfile"/>
              </a:rPr>
              <a:t>, P. S. Goswami, R. V. </a:t>
            </a:r>
            <a:r>
              <a:rPr lang="en-IN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5" action="ppaction://hlinkfile"/>
              </a:rPr>
              <a:t>Bhusari</a:t>
            </a:r>
            <a:r>
              <a:rPr lang="en-I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5" action="ppaction://hlinkfile"/>
              </a:rPr>
              <a:t>, R. M. </a:t>
            </a:r>
            <a:r>
              <a:rPr lang="en-IN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5" action="ppaction://hlinkfile"/>
              </a:rPr>
              <a:t>Donarwar</a:t>
            </a:r>
            <a:r>
              <a:rPr lang="en-I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5" action="ppaction://hlinkfile"/>
              </a:rPr>
              <a:t>, and R. R. </a:t>
            </a:r>
            <a:r>
              <a:rPr lang="en-IN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5" action="ppaction://hlinkfile"/>
              </a:rPr>
              <a:t>Naitam</a:t>
            </a:r>
            <a:r>
              <a:rPr lang="en-I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5" action="ppaction://hlinkfile"/>
              </a:rPr>
              <a:t>, “On Road Vehicle Breakdown Assistance Search,” </a:t>
            </a:r>
            <a:r>
              <a:rPr lang="en-IN" sz="16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5" action="ppaction://hlinkfile"/>
              </a:rPr>
              <a:t>International Journal of Innovations in Engineering and Science</a:t>
            </a:r>
            <a:r>
              <a:rPr lang="en-I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5" action="ppaction://hlinkfile"/>
              </a:rPr>
              <a:t>, vol. 8, no. 6, pp. 79–81, May 2023, </a:t>
            </a:r>
            <a:r>
              <a:rPr lang="en-IN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5" action="ppaction://hlinkfile"/>
              </a:rPr>
              <a:t>doi</a:t>
            </a:r>
            <a:r>
              <a:rPr lang="en-I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5" action="ppaction://hlinkfile"/>
              </a:rPr>
              <a:t>: 10.46335/IJIES.2023.8.6.18.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137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7F95E-2780-D322-96F6-7748709D8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  <a:r>
              <a:rPr lang="en-IN" spc="55" dirty="0"/>
              <a:t> </a:t>
            </a:r>
            <a:r>
              <a:rPr lang="en-IN" spc="-10" dirty="0"/>
              <a:t>[contd..]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E0D4D0-EBDD-1302-80E5-A6173DB68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799" y="1260988"/>
            <a:ext cx="10946581" cy="4953000"/>
          </a:xfrm>
        </p:spPr>
        <p:txBody>
          <a:bodyPr>
            <a:normAutofit/>
          </a:bodyPr>
          <a:lstStyle/>
          <a:p>
            <a:pPr marL="76200" indent="0">
              <a:buNone/>
            </a:pPr>
            <a:r>
              <a:rPr lang="en-I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[9]      </a:t>
            </a:r>
            <a:r>
              <a:rPr lang="en-I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 action="ppaction://hlinkfile"/>
              </a:rPr>
              <a:t>M. Vasuki, T. Amalraj Victoire, A. Karunamurthy, M. </a:t>
            </a:r>
            <a:r>
              <a:rPr lang="en-IN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 action="ppaction://hlinkfile"/>
              </a:rPr>
              <a:t>Prathiba</a:t>
            </a:r>
            <a:r>
              <a:rPr lang="en-I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 action="ppaction://hlinkfile"/>
              </a:rPr>
              <a:t>, and M. </a:t>
            </a:r>
            <a:r>
              <a:rPr lang="en-IN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 action="ppaction://hlinkfile"/>
              </a:rPr>
              <a:t>Prathiba</a:t>
            </a:r>
            <a:r>
              <a:rPr lang="en-I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 action="ppaction://hlinkfile"/>
              </a:rPr>
              <a:t>, “On Road Vehicle Breakdown  </a:t>
            </a:r>
          </a:p>
          <a:p>
            <a:pPr marL="76200" indent="0">
              <a:buNone/>
            </a:pPr>
            <a:r>
              <a:rPr lang="en-I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 action="ppaction://hlinkfile"/>
              </a:rPr>
              <a:t>Assistant Management,” </a:t>
            </a:r>
            <a:r>
              <a:rPr lang="en-IN" sz="16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 action="ppaction://hlinkfile"/>
              </a:rPr>
              <a:t>International Journal of Progressive Research in Engineering Management and Science </a:t>
            </a:r>
          </a:p>
          <a:p>
            <a:pPr marL="76200" indent="0">
              <a:buNone/>
            </a:pPr>
            <a:r>
              <a:rPr lang="en-IN" sz="16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 action="ppaction://hlinkfile"/>
              </a:rPr>
              <a:t>(IJPREMS)</a:t>
            </a:r>
            <a:r>
              <a:rPr lang="en-I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 action="ppaction://hlinkfile"/>
              </a:rPr>
              <a:t>, vol. 3, no. 7, pp. 194–198, Jul. 2023, </a:t>
            </a:r>
            <a:r>
              <a:rPr lang="en-IN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 action="ppaction://hlinkfile"/>
              </a:rPr>
              <a:t>doi</a:t>
            </a:r>
            <a:r>
              <a:rPr lang="en-I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 action="ppaction://hlinkfile"/>
              </a:rPr>
              <a:t>: 10.58257/IJPREMS31797.</a:t>
            </a:r>
            <a:endParaRPr lang="en-IN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76200" indent="0">
              <a:buNone/>
            </a:pPr>
            <a:endParaRPr lang="en-IN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76200" indent="0">
              <a:buNone/>
            </a:pPr>
            <a:r>
              <a:rPr lang="en-I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[10]    </a:t>
            </a:r>
            <a:r>
              <a:rPr lang="en-I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 action="ppaction://hlinkfile"/>
              </a:rPr>
              <a:t>P. P. Deshmukh, Y. S. </a:t>
            </a:r>
            <a:r>
              <a:rPr lang="en-IN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 action="ppaction://hlinkfile"/>
              </a:rPr>
              <a:t>Puraswani</a:t>
            </a:r>
            <a:r>
              <a:rPr lang="en-I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 action="ppaction://hlinkfile"/>
              </a:rPr>
              <a:t>, A. D. Attal, P. G. Murhekar, V. A. Katole, and V. M. Wankhade, “Review </a:t>
            </a:r>
          </a:p>
          <a:p>
            <a:pPr marL="76200" indent="0">
              <a:buNone/>
            </a:pPr>
            <a:r>
              <a:rPr lang="en-I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 action="ppaction://hlinkfile"/>
              </a:rPr>
              <a:t>Paper on </a:t>
            </a:r>
            <a:r>
              <a:rPr lang="en-IN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 action="ppaction://hlinkfile"/>
              </a:rPr>
              <a:t>On</a:t>
            </a:r>
            <a:r>
              <a:rPr lang="en-I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 action="ppaction://hlinkfile"/>
              </a:rPr>
              <a:t> Road Vehicle Breakdown Assistance System,” </a:t>
            </a:r>
            <a:r>
              <a:rPr lang="en-IN" sz="16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 action="ppaction://hlinkfile"/>
              </a:rPr>
              <a:t>International Journal of Engineering Applied Sciences </a:t>
            </a:r>
          </a:p>
          <a:p>
            <a:pPr marL="76200" indent="0">
              <a:buNone/>
            </a:pPr>
            <a:r>
              <a:rPr lang="en-IN" sz="16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 action="ppaction://hlinkfile"/>
              </a:rPr>
              <a:t>and Technology</a:t>
            </a:r>
            <a:r>
              <a:rPr lang="en-I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 action="ppaction://hlinkfile"/>
              </a:rPr>
              <a:t>, vol. 4, no. 11, pp. 199–202, Mar. 2020.</a:t>
            </a:r>
            <a:endParaRPr lang="en-IN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097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1422</TotalTime>
  <Words>1675</Words>
  <Application>Microsoft Office PowerPoint</Application>
  <PresentationFormat>Widescreen</PresentationFormat>
  <Paragraphs>210</Paragraphs>
  <Slides>19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Arial Black</vt:lpstr>
      <vt:lpstr>Calibri</vt:lpstr>
      <vt:lpstr>Cambria</vt:lpstr>
      <vt:lpstr>Tahoma</vt:lpstr>
      <vt:lpstr>Verdana</vt:lpstr>
      <vt:lpstr>Bioinformatics</vt:lpstr>
      <vt:lpstr>PowerPoint Presentation</vt:lpstr>
      <vt:lpstr>Problem Statement Number: NA</vt:lpstr>
      <vt:lpstr>Objectives :</vt:lpstr>
      <vt:lpstr> Drawbacks &amp; Existing methods </vt:lpstr>
      <vt:lpstr> Advantages  &amp; Disadvantages</vt:lpstr>
      <vt:lpstr>Proposed Method &amp; Feasibility Study</vt:lpstr>
      <vt:lpstr>Proposed Method &amp; Feasibility Study contd..</vt:lpstr>
      <vt:lpstr>PowerPoint Presentation</vt:lpstr>
      <vt:lpstr>Architecture Diagram</vt:lpstr>
      <vt:lpstr>Architecture Diagram</vt:lpstr>
      <vt:lpstr>Hardware &amp; Software</vt:lpstr>
      <vt:lpstr>Timeline </vt:lpstr>
      <vt:lpstr>Modules</vt:lpstr>
      <vt:lpstr>Modules [contd..]</vt:lpstr>
      <vt:lpstr>Modules [contd..]</vt:lpstr>
      <vt:lpstr>References (IEEE Paper format)</vt:lpstr>
      <vt:lpstr>References [contd..]</vt:lpstr>
      <vt:lpstr>References [contd..]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Guru Dheeraj Reddy Kambala</cp:lastModifiedBy>
  <cp:revision>54</cp:revision>
  <dcterms:modified xsi:type="dcterms:W3CDTF">2026-02-06T05:39:08Z</dcterms:modified>
</cp:coreProperties>
</file>